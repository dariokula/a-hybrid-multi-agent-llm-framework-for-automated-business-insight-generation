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3" r:id="rId2"/>
    <p:sldId id="260" r:id="rId3"/>
    <p:sldId id="259" r:id="rId4"/>
    <p:sldId id="264" r:id="rId5"/>
    <p:sldId id="266" r:id="rId6"/>
    <p:sldId id="268" r:id="rId7"/>
    <p:sldId id="270" r:id="rId8"/>
    <p:sldId id="272" r:id="rId9"/>
    <p:sldId id="273" r:id="rId10"/>
    <p:sldId id="276" r:id="rId11"/>
    <p:sldId id="278" r:id="rId12"/>
    <p:sldId id="280" r:id="rId13"/>
    <p:sldId id="282" r:id="rId14"/>
    <p:sldId id="284" r:id="rId15"/>
    <p:sldId id="286" r:id="rId16"/>
    <p:sldId id="288" r:id="rId17"/>
    <p:sldId id="290" r:id="rId18"/>
    <p:sldId id="292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E81C18-8921-41CD-BEC4-47A19AD11011}" v="3" dt="2026-01-29T14:30:29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848" autoAdjust="0"/>
    <p:restoredTop sz="94632"/>
  </p:normalViewPr>
  <p:slideViewPr>
    <p:cSldViewPr snapToGrid="0">
      <p:cViewPr varScale="1">
        <p:scale>
          <a:sx n="51" d="100"/>
          <a:sy n="51" d="100"/>
        </p:scale>
        <p:origin x="67" y="6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o Kulaszewski" userId="5e0a1d26-dcfd-46bf-9e2a-de0a25069d19" providerId="ADAL" clId="{7B5AFA6F-F4A3-4E3A-87EC-9088CF6EA9C5}"/>
    <pc:docChg chg="undo custSel modSld">
      <pc:chgData name="Dario Kulaszewski" userId="5e0a1d26-dcfd-46bf-9e2a-de0a25069d19" providerId="ADAL" clId="{7B5AFA6F-F4A3-4E3A-87EC-9088CF6EA9C5}" dt="2026-01-29T15:51:12.800" v="455" actId="20577"/>
      <pc:docMkLst>
        <pc:docMk/>
      </pc:docMkLst>
      <pc:sldChg chg="modSp mod">
        <pc:chgData name="Dario Kulaszewski" userId="5e0a1d26-dcfd-46bf-9e2a-de0a25069d19" providerId="ADAL" clId="{7B5AFA6F-F4A3-4E3A-87EC-9088CF6EA9C5}" dt="2026-01-29T14:14:31.974" v="80" actId="20577"/>
        <pc:sldMkLst>
          <pc:docMk/>
          <pc:sldMk cId="3025098011" sldId="264"/>
        </pc:sldMkLst>
        <pc:graphicFrameChg chg="modGraphic">
          <ac:chgData name="Dario Kulaszewski" userId="5e0a1d26-dcfd-46bf-9e2a-de0a25069d19" providerId="ADAL" clId="{7B5AFA6F-F4A3-4E3A-87EC-9088CF6EA9C5}" dt="2026-01-29T14:14:11.148" v="78" actId="20577"/>
          <ac:graphicFrameMkLst>
            <pc:docMk/>
            <pc:sldMk cId="3025098011" sldId="264"/>
            <ac:graphicFrameMk id="6" creationId="{2CCFCDD0-C8D8-1547-C588-4FD3A32B2642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14:31.974" v="80" actId="20577"/>
          <ac:graphicFrameMkLst>
            <pc:docMk/>
            <pc:sldMk cId="3025098011" sldId="264"/>
            <ac:graphicFrameMk id="9" creationId="{EF334148-D062-5814-50E9-496E11F55D56}"/>
          </ac:graphicFrameMkLst>
        </pc:graphicFrameChg>
      </pc:sldChg>
      <pc:sldChg chg="modSp mod">
        <pc:chgData name="Dario Kulaszewski" userId="5e0a1d26-dcfd-46bf-9e2a-de0a25069d19" providerId="ADAL" clId="{7B5AFA6F-F4A3-4E3A-87EC-9088CF6EA9C5}" dt="2026-01-29T14:08:52.810" v="68" actId="20577"/>
        <pc:sldMkLst>
          <pc:docMk/>
          <pc:sldMk cId="3864396752" sldId="266"/>
        </pc:sldMkLst>
        <pc:graphicFrameChg chg="modGraphic">
          <ac:chgData name="Dario Kulaszewski" userId="5e0a1d26-dcfd-46bf-9e2a-de0a25069d19" providerId="ADAL" clId="{7B5AFA6F-F4A3-4E3A-87EC-9088CF6EA9C5}" dt="2026-01-29T14:08:26.158" v="62" actId="20577"/>
          <ac:graphicFrameMkLst>
            <pc:docMk/>
            <pc:sldMk cId="3864396752" sldId="266"/>
            <ac:graphicFrameMk id="2" creationId="{F5D1D913-A21C-30CD-91C9-CAC31B31BD55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08:04.601" v="54" actId="20577"/>
          <ac:graphicFrameMkLst>
            <pc:docMk/>
            <pc:sldMk cId="3864396752" sldId="266"/>
            <ac:graphicFrameMk id="5" creationId="{425CE82F-0CE2-9E76-02B1-BCCE48037CE8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08:52.810" v="68" actId="20577"/>
          <ac:graphicFrameMkLst>
            <pc:docMk/>
            <pc:sldMk cId="3864396752" sldId="266"/>
            <ac:graphicFrameMk id="9" creationId="{728CF1A5-E484-DF1D-F52A-80CBFCB24507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9T14:15:54.146" v="102" actId="20577"/>
        <pc:sldMkLst>
          <pc:docMk/>
          <pc:sldMk cId="2957923694" sldId="270"/>
        </pc:sldMkLst>
        <pc:graphicFrameChg chg="add del modGraphic">
          <ac:chgData name="Dario Kulaszewski" userId="5e0a1d26-dcfd-46bf-9e2a-de0a25069d19" providerId="ADAL" clId="{7B5AFA6F-F4A3-4E3A-87EC-9088CF6EA9C5}" dt="2026-01-29T14:15:17.320" v="90" actId="20577"/>
          <ac:graphicFrameMkLst>
            <pc:docMk/>
            <pc:sldMk cId="2957923694" sldId="270"/>
            <ac:graphicFrameMk id="2" creationId="{C6663F1C-71D0-0E34-0799-05021A285EFD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15:27.254" v="94" actId="20577"/>
          <ac:graphicFrameMkLst>
            <pc:docMk/>
            <pc:sldMk cId="2957923694" sldId="270"/>
            <ac:graphicFrameMk id="5" creationId="{71966174-E32B-594D-F79C-EAD6CDAE765D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15:54.146" v="102" actId="20577"/>
          <ac:graphicFrameMkLst>
            <pc:docMk/>
            <pc:sldMk cId="2957923694" sldId="270"/>
            <ac:graphicFrameMk id="9" creationId="{DB44AC09-6286-CDFA-27BD-FEF7FF177CD5}"/>
          </ac:graphicFrameMkLst>
        </pc:graphicFrameChg>
      </pc:sldChg>
      <pc:sldChg chg="modSp mod">
        <pc:chgData name="Dario Kulaszewski" userId="5e0a1d26-dcfd-46bf-9e2a-de0a25069d19" providerId="ADAL" clId="{7B5AFA6F-F4A3-4E3A-87EC-9088CF6EA9C5}" dt="2026-01-29T14:16:45.872" v="127" actId="20577"/>
        <pc:sldMkLst>
          <pc:docMk/>
          <pc:sldMk cId="2627360953" sldId="272"/>
        </pc:sldMkLst>
        <pc:graphicFrameChg chg="modGraphic">
          <ac:chgData name="Dario Kulaszewski" userId="5e0a1d26-dcfd-46bf-9e2a-de0a25069d19" providerId="ADAL" clId="{7B5AFA6F-F4A3-4E3A-87EC-9088CF6EA9C5}" dt="2026-01-29T14:16:25.126" v="115" actId="20577"/>
          <ac:graphicFrameMkLst>
            <pc:docMk/>
            <pc:sldMk cId="2627360953" sldId="272"/>
            <ac:graphicFrameMk id="2" creationId="{51313AB2-5A92-1546-14D0-76815A390629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16:45.872" v="127" actId="20577"/>
          <ac:graphicFrameMkLst>
            <pc:docMk/>
            <pc:sldMk cId="2627360953" sldId="272"/>
            <ac:graphicFrameMk id="12" creationId="{5FA98F02-394D-827A-D5D3-CB167E537571}"/>
          </ac:graphicFrameMkLst>
        </pc:graphicFrameChg>
      </pc:sldChg>
      <pc:sldChg chg="modSp mod">
        <pc:chgData name="Dario Kulaszewski" userId="5e0a1d26-dcfd-46bf-9e2a-de0a25069d19" providerId="ADAL" clId="{7B5AFA6F-F4A3-4E3A-87EC-9088CF6EA9C5}" dt="2026-01-29T14:18:56.594" v="171" actId="20577"/>
        <pc:sldMkLst>
          <pc:docMk/>
          <pc:sldMk cId="1019391536" sldId="273"/>
        </pc:sldMkLst>
        <pc:graphicFrameChg chg="modGraphic">
          <ac:chgData name="Dario Kulaszewski" userId="5e0a1d26-dcfd-46bf-9e2a-de0a25069d19" providerId="ADAL" clId="{7B5AFA6F-F4A3-4E3A-87EC-9088CF6EA9C5}" dt="2026-01-29T14:17:51.241" v="139" actId="20577"/>
          <ac:graphicFrameMkLst>
            <pc:docMk/>
            <pc:sldMk cId="1019391536" sldId="273"/>
            <ac:graphicFrameMk id="2" creationId="{84D22139-9F44-D5A5-89A8-31F918F57EF6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18:25.373" v="157" actId="20577"/>
          <ac:graphicFrameMkLst>
            <pc:docMk/>
            <pc:sldMk cId="1019391536" sldId="273"/>
            <ac:graphicFrameMk id="5" creationId="{6BE387E3-9BA7-D089-C26A-5063CB01FF7E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18:56.594" v="171" actId="20577"/>
          <ac:graphicFrameMkLst>
            <pc:docMk/>
            <pc:sldMk cId="1019391536" sldId="273"/>
            <ac:graphicFrameMk id="9" creationId="{E4CDA8B3-2819-C66A-5A2E-787A62862339}"/>
          </ac:graphicFrameMkLst>
        </pc:graphicFrameChg>
      </pc:sldChg>
      <pc:sldChg chg="modSp mod">
        <pc:chgData name="Dario Kulaszewski" userId="5e0a1d26-dcfd-46bf-9e2a-de0a25069d19" providerId="ADAL" clId="{7B5AFA6F-F4A3-4E3A-87EC-9088CF6EA9C5}" dt="2026-01-29T14:23:59.395" v="205" actId="20577"/>
        <pc:sldMkLst>
          <pc:docMk/>
          <pc:sldMk cId="2482252265" sldId="276"/>
        </pc:sldMkLst>
        <pc:graphicFrameChg chg="modGraphic">
          <ac:chgData name="Dario Kulaszewski" userId="5e0a1d26-dcfd-46bf-9e2a-de0a25069d19" providerId="ADAL" clId="{7B5AFA6F-F4A3-4E3A-87EC-9088CF6EA9C5}" dt="2026-01-29T14:23:20.714" v="183" actId="20577"/>
          <ac:graphicFrameMkLst>
            <pc:docMk/>
            <pc:sldMk cId="2482252265" sldId="276"/>
            <ac:graphicFrameMk id="2" creationId="{2386F5A5-226A-DCB4-4D21-F8B27A30075B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23:59.395" v="205" actId="20577"/>
          <ac:graphicFrameMkLst>
            <pc:docMk/>
            <pc:sldMk cId="2482252265" sldId="276"/>
            <ac:graphicFrameMk id="6" creationId="{80D2F65C-698C-65D8-C513-33CB58C43468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23:37.370" v="193" actId="20577"/>
          <ac:graphicFrameMkLst>
            <pc:docMk/>
            <pc:sldMk cId="2482252265" sldId="276"/>
            <ac:graphicFrameMk id="9" creationId="{6B59B5F7-B159-DB83-6ED9-C94895FE0761}"/>
          </ac:graphicFrameMkLst>
        </pc:graphicFrameChg>
      </pc:sldChg>
      <pc:sldChg chg="modSp mod">
        <pc:chgData name="Dario Kulaszewski" userId="5e0a1d26-dcfd-46bf-9e2a-de0a25069d19" providerId="ADAL" clId="{7B5AFA6F-F4A3-4E3A-87EC-9088CF6EA9C5}" dt="2026-01-29T14:26:20.546" v="237" actId="20577"/>
        <pc:sldMkLst>
          <pc:docMk/>
          <pc:sldMk cId="3542763554" sldId="278"/>
        </pc:sldMkLst>
        <pc:graphicFrameChg chg="modGraphic">
          <ac:chgData name="Dario Kulaszewski" userId="5e0a1d26-dcfd-46bf-9e2a-de0a25069d19" providerId="ADAL" clId="{7B5AFA6F-F4A3-4E3A-87EC-9088CF6EA9C5}" dt="2026-01-29T14:25:18.194" v="217" actId="20577"/>
          <ac:graphicFrameMkLst>
            <pc:docMk/>
            <pc:sldMk cId="3542763554" sldId="278"/>
            <ac:graphicFrameMk id="2" creationId="{975ED4A6-17CE-234C-3632-5783F79C5D8D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26:10.910" v="235" actId="20577"/>
          <ac:graphicFrameMkLst>
            <pc:docMk/>
            <pc:sldMk cId="3542763554" sldId="278"/>
            <ac:graphicFrameMk id="9" creationId="{E79C3148-0831-9C77-249E-034C4E448A55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26:20.546" v="237" actId="20577"/>
          <ac:graphicFrameMkLst>
            <pc:docMk/>
            <pc:sldMk cId="3542763554" sldId="278"/>
            <ac:graphicFrameMk id="11" creationId="{EA516D35-C787-054A-D4BF-748FDC89C017}"/>
          </ac:graphicFrameMkLst>
        </pc:graphicFrameChg>
      </pc:sldChg>
      <pc:sldChg chg="modSp mod">
        <pc:chgData name="Dario Kulaszewski" userId="5e0a1d26-dcfd-46bf-9e2a-de0a25069d19" providerId="ADAL" clId="{7B5AFA6F-F4A3-4E3A-87EC-9088CF6EA9C5}" dt="2026-01-29T14:29:10.017" v="275" actId="20577"/>
        <pc:sldMkLst>
          <pc:docMk/>
          <pc:sldMk cId="3394757364" sldId="280"/>
        </pc:sldMkLst>
        <pc:graphicFrameChg chg="modGraphic">
          <ac:chgData name="Dario Kulaszewski" userId="5e0a1d26-dcfd-46bf-9e2a-de0a25069d19" providerId="ADAL" clId="{7B5AFA6F-F4A3-4E3A-87EC-9088CF6EA9C5}" dt="2026-01-29T14:27:30.891" v="257" actId="20577"/>
          <ac:graphicFrameMkLst>
            <pc:docMk/>
            <pc:sldMk cId="3394757364" sldId="280"/>
            <ac:graphicFrameMk id="2" creationId="{5B3957DE-A160-9C5F-5B5A-FF162F65D7C3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27:41.916" v="261" actId="20577"/>
          <ac:graphicFrameMkLst>
            <pc:docMk/>
            <pc:sldMk cId="3394757364" sldId="280"/>
            <ac:graphicFrameMk id="6" creationId="{3DEDBE3D-67DA-7907-5481-C28F9EFADF39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29:10.017" v="275" actId="20577"/>
          <ac:graphicFrameMkLst>
            <pc:docMk/>
            <pc:sldMk cId="3394757364" sldId="280"/>
            <ac:graphicFrameMk id="9" creationId="{A6F66087-5848-80E7-3325-973A06DCAFC7}"/>
          </ac:graphicFrameMkLst>
        </pc:graphicFrameChg>
      </pc:sldChg>
      <pc:sldChg chg="addSp delSp modSp mod">
        <pc:chgData name="Dario Kulaszewski" userId="5e0a1d26-dcfd-46bf-9e2a-de0a25069d19" providerId="ADAL" clId="{7B5AFA6F-F4A3-4E3A-87EC-9088CF6EA9C5}" dt="2026-01-29T14:30:01.727" v="293" actId="20577"/>
        <pc:sldMkLst>
          <pc:docMk/>
          <pc:sldMk cId="4104422772" sldId="282"/>
        </pc:sldMkLst>
        <pc:graphicFrameChg chg="modGraphic">
          <ac:chgData name="Dario Kulaszewski" userId="5e0a1d26-dcfd-46bf-9e2a-de0a25069d19" providerId="ADAL" clId="{7B5AFA6F-F4A3-4E3A-87EC-9088CF6EA9C5}" dt="2026-01-29T14:29:23.072" v="279" actId="20577"/>
          <ac:graphicFrameMkLst>
            <pc:docMk/>
            <pc:sldMk cId="4104422772" sldId="282"/>
            <ac:graphicFrameMk id="2" creationId="{97AB8F75-D39A-23C8-1474-C74B5B965541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29:42.202" v="285" actId="20577"/>
          <ac:graphicFrameMkLst>
            <pc:docMk/>
            <pc:sldMk cId="4104422772" sldId="282"/>
            <ac:graphicFrameMk id="5" creationId="{30790CD6-84C1-D561-5279-8FC1D3A84B50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30:01.727" v="293" actId="20577"/>
          <ac:graphicFrameMkLst>
            <pc:docMk/>
            <pc:sldMk cId="4104422772" sldId="282"/>
            <ac:graphicFrameMk id="9" creationId="{6D008CA1-4022-AA06-76EE-D36DCD8CB01A}"/>
          </ac:graphicFrameMkLst>
        </pc:graphicFrameChg>
        <pc:graphicFrameChg chg="del">
          <ac:chgData name="Dario Kulaszewski" userId="5e0a1d26-dcfd-46bf-9e2a-de0a25069d19" providerId="ADAL" clId="{7B5AFA6F-F4A3-4E3A-87EC-9088CF6EA9C5}" dt="2026-01-28T16:47:38.636" v="2" actId="478"/>
          <ac:graphicFrameMkLst>
            <pc:docMk/>
            <pc:sldMk cId="4104422772" sldId="282"/>
            <ac:graphicFrameMk id="10" creationId="{C506F2D3-E4B5-D774-D503-17C443879BB7}"/>
          </ac:graphicFrameMkLst>
        </pc:graphicFrameChg>
        <pc:graphicFrameChg chg="del modGraphic">
          <ac:chgData name="Dario Kulaszewski" userId="5e0a1d26-dcfd-46bf-9e2a-de0a25069d19" providerId="ADAL" clId="{7B5AFA6F-F4A3-4E3A-87EC-9088CF6EA9C5}" dt="2026-01-28T16:47:28.542" v="1" actId="478"/>
          <ac:graphicFrameMkLst>
            <pc:docMk/>
            <pc:sldMk cId="4104422772" sldId="282"/>
            <ac:graphicFrameMk id="17" creationId="{5703CD8A-2BF9-33F6-17A7-F2AD6816A83E}"/>
          </ac:graphicFrameMkLst>
        </pc:graphicFrameChg>
        <pc:graphicFrameChg chg="del modGraphic">
          <ac:chgData name="Dario Kulaszewski" userId="5e0a1d26-dcfd-46bf-9e2a-de0a25069d19" providerId="ADAL" clId="{7B5AFA6F-F4A3-4E3A-87EC-9088CF6EA9C5}" dt="2026-01-28T16:47:52.015" v="6" actId="478"/>
          <ac:graphicFrameMkLst>
            <pc:docMk/>
            <pc:sldMk cId="4104422772" sldId="282"/>
            <ac:graphicFrameMk id="18" creationId="{CD02A93B-64A2-08E5-6C2A-2DB7524320F3}"/>
          </ac:graphicFrameMkLst>
        </pc:graphicFrameChg>
        <pc:cxnChg chg="add del">
          <ac:chgData name="Dario Kulaszewski" userId="5e0a1d26-dcfd-46bf-9e2a-de0a25069d19" providerId="ADAL" clId="{7B5AFA6F-F4A3-4E3A-87EC-9088CF6EA9C5}" dt="2026-01-28T16:47:43.034" v="4" actId="478"/>
          <ac:cxnSpMkLst>
            <pc:docMk/>
            <pc:sldMk cId="4104422772" sldId="282"/>
            <ac:cxnSpMk id="20" creationId="{CED18B8B-0E37-04D4-4006-EFB5FE223855}"/>
          </ac:cxnSpMkLst>
        </pc:cxnChg>
      </pc:sldChg>
      <pc:sldChg chg="modSp mod">
        <pc:chgData name="Dario Kulaszewski" userId="5e0a1d26-dcfd-46bf-9e2a-de0a25069d19" providerId="ADAL" clId="{7B5AFA6F-F4A3-4E3A-87EC-9088CF6EA9C5}" dt="2026-01-29T14:31:59.186" v="328" actId="20577"/>
        <pc:sldMkLst>
          <pc:docMk/>
          <pc:sldMk cId="2316109500" sldId="284"/>
        </pc:sldMkLst>
        <pc:spChg chg="mod">
          <ac:chgData name="Dario Kulaszewski" userId="5e0a1d26-dcfd-46bf-9e2a-de0a25069d19" providerId="ADAL" clId="{7B5AFA6F-F4A3-4E3A-87EC-9088CF6EA9C5}" dt="2026-01-29T14:30:29.157" v="294"/>
          <ac:spMkLst>
            <pc:docMk/>
            <pc:sldMk cId="2316109500" sldId="284"/>
            <ac:spMk id="7" creationId="{97985E10-E16C-48DC-BD2C-B463288ACC7B}"/>
          </ac:spMkLst>
        </pc:spChg>
        <pc:graphicFrameChg chg="modGraphic">
          <ac:chgData name="Dario Kulaszewski" userId="5e0a1d26-dcfd-46bf-9e2a-de0a25069d19" providerId="ADAL" clId="{7B5AFA6F-F4A3-4E3A-87EC-9088CF6EA9C5}" dt="2026-01-29T14:31:19.580" v="310" actId="20577"/>
          <ac:graphicFrameMkLst>
            <pc:docMk/>
            <pc:sldMk cId="2316109500" sldId="284"/>
            <ac:graphicFrameMk id="3" creationId="{55A5FAD7-739F-9CF9-EE3B-E4917BBCE494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31:35.704" v="314" actId="20577"/>
          <ac:graphicFrameMkLst>
            <pc:docMk/>
            <pc:sldMk cId="2316109500" sldId="284"/>
            <ac:graphicFrameMk id="11" creationId="{1CBACC20-27D5-4F6B-BA73-4D2A9E307175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31:59.186" v="328" actId="20577"/>
          <ac:graphicFrameMkLst>
            <pc:docMk/>
            <pc:sldMk cId="2316109500" sldId="284"/>
            <ac:graphicFrameMk id="12" creationId="{12CF3C29-A98B-028F-8CE2-813E8F322014}"/>
          </ac:graphicFrameMkLst>
        </pc:graphicFrameChg>
      </pc:sldChg>
      <pc:sldChg chg="modSp mod">
        <pc:chgData name="Dario Kulaszewski" userId="5e0a1d26-dcfd-46bf-9e2a-de0a25069d19" providerId="ADAL" clId="{7B5AFA6F-F4A3-4E3A-87EC-9088CF6EA9C5}" dt="2026-01-29T14:33:11.502" v="360" actId="20577"/>
        <pc:sldMkLst>
          <pc:docMk/>
          <pc:sldMk cId="498365493" sldId="286"/>
        </pc:sldMkLst>
        <pc:graphicFrameChg chg="modGraphic">
          <ac:chgData name="Dario Kulaszewski" userId="5e0a1d26-dcfd-46bf-9e2a-de0a25069d19" providerId="ADAL" clId="{7B5AFA6F-F4A3-4E3A-87EC-9088CF6EA9C5}" dt="2026-01-29T14:32:28.657" v="340" actId="20577"/>
          <ac:graphicFrameMkLst>
            <pc:docMk/>
            <pc:sldMk cId="498365493" sldId="286"/>
            <ac:graphicFrameMk id="2" creationId="{F6CA83A0-6272-757E-6F9B-901B28F76AA9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33:11.502" v="360" actId="20577"/>
          <ac:graphicFrameMkLst>
            <pc:docMk/>
            <pc:sldMk cId="498365493" sldId="286"/>
            <ac:graphicFrameMk id="9" creationId="{53B7BE52-757C-6A3C-0146-12E0091BB67B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33:06.537" v="358" actId="20577"/>
          <ac:graphicFrameMkLst>
            <pc:docMk/>
            <pc:sldMk cId="498365493" sldId="286"/>
            <ac:graphicFrameMk id="12" creationId="{EA5370ED-605E-FDF0-2561-FC21497224E9}"/>
          </ac:graphicFrameMkLst>
        </pc:graphicFrameChg>
      </pc:sldChg>
      <pc:sldChg chg="modSp mod">
        <pc:chgData name="Dario Kulaszewski" userId="5e0a1d26-dcfd-46bf-9e2a-de0a25069d19" providerId="ADAL" clId="{7B5AFA6F-F4A3-4E3A-87EC-9088CF6EA9C5}" dt="2026-01-29T14:34:59.238" v="394" actId="20577"/>
        <pc:sldMkLst>
          <pc:docMk/>
          <pc:sldMk cId="3643522732" sldId="288"/>
        </pc:sldMkLst>
        <pc:graphicFrameChg chg="modGraphic">
          <ac:chgData name="Dario Kulaszewski" userId="5e0a1d26-dcfd-46bf-9e2a-de0a25069d19" providerId="ADAL" clId="{7B5AFA6F-F4A3-4E3A-87EC-9088CF6EA9C5}" dt="2026-01-29T14:34:02.269" v="376" actId="20577"/>
          <ac:graphicFrameMkLst>
            <pc:docMk/>
            <pc:sldMk cId="3643522732" sldId="288"/>
            <ac:graphicFrameMk id="2" creationId="{EF60B90E-8A4B-6376-9FC3-0F603C2B7710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34:15.235" v="384" actId="20577"/>
          <ac:graphicFrameMkLst>
            <pc:docMk/>
            <pc:sldMk cId="3643522732" sldId="288"/>
            <ac:graphicFrameMk id="9" creationId="{930CC978-DDA7-1224-E234-AD7D6B5E866C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34:59.238" v="394" actId="20577"/>
          <ac:graphicFrameMkLst>
            <pc:docMk/>
            <pc:sldMk cId="3643522732" sldId="288"/>
            <ac:graphicFrameMk id="12" creationId="{1072679B-9395-994C-F591-4CB2654EF51C}"/>
          </ac:graphicFrameMkLst>
        </pc:graphicFrameChg>
      </pc:sldChg>
      <pc:sldChg chg="modSp mod">
        <pc:chgData name="Dario Kulaszewski" userId="5e0a1d26-dcfd-46bf-9e2a-de0a25069d19" providerId="ADAL" clId="{7B5AFA6F-F4A3-4E3A-87EC-9088CF6EA9C5}" dt="2026-01-29T14:36:49.291" v="426" actId="20577"/>
        <pc:sldMkLst>
          <pc:docMk/>
          <pc:sldMk cId="3583486712" sldId="290"/>
        </pc:sldMkLst>
        <pc:graphicFrameChg chg="modGraphic">
          <ac:chgData name="Dario Kulaszewski" userId="5e0a1d26-dcfd-46bf-9e2a-de0a25069d19" providerId="ADAL" clId="{7B5AFA6F-F4A3-4E3A-87EC-9088CF6EA9C5}" dt="2026-01-29T14:36:04.056" v="410" actId="20577"/>
          <ac:graphicFrameMkLst>
            <pc:docMk/>
            <pc:sldMk cId="3583486712" sldId="290"/>
            <ac:graphicFrameMk id="2" creationId="{300400B4-979C-8412-8889-1D59ECD773DA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36:26.136" v="418" actId="20577"/>
          <ac:graphicFrameMkLst>
            <pc:docMk/>
            <pc:sldMk cId="3583486712" sldId="290"/>
            <ac:graphicFrameMk id="6" creationId="{AFAD93A8-EA63-2C35-CAD7-C2F34AB0461A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36:49.291" v="426" actId="20577"/>
          <ac:graphicFrameMkLst>
            <pc:docMk/>
            <pc:sldMk cId="3583486712" sldId="290"/>
            <ac:graphicFrameMk id="9" creationId="{876700A9-6FF1-364C-0EA7-F0743110FF1F}"/>
          </ac:graphicFrameMkLst>
        </pc:graphicFrameChg>
      </pc:sldChg>
      <pc:sldChg chg="modSp mod">
        <pc:chgData name="Dario Kulaszewski" userId="5e0a1d26-dcfd-46bf-9e2a-de0a25069d19" providerId="ADAL" clId="{7B5AFA6F-F4A3-4E3A-87EC-9088CF6EA9C5}" dt="2026-01-29T14:40:40.361" v="453" actId="20577"/>
        <pc:sldMkLst>
          <pc:docMk/>
          <pc:sldMk cId="1465269283" sldId="292"/>
        </pc:sldMkLst>
        <pc:graphicFrameChg chg="modGraphic">
          <ac:chgData name="Dario Kulaszewski" userId="5e0a1d26-dcfd-46bf-9e2a-de0a25069d19" providerId="ADAL" clId="{7B5AFA6F-F4A3-4E3A-87EC-9088CF6EA9C5}" dt="2026-01-29T14:37:28.849" v="437" actId="20577"/>
          <ac:graphicFrameMkLst>
            <pc:docMk/>
            <pc:sldMk cId="1465269283" sldId="292"/>
            <ac:graphicFrameMk id="2" creationId="{36606CC3-DECC-978C-62F2-EFCBC7FBDE78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40:13.739" v="441" actId="20577"/>
          <ac:graphicFrameMkLst>
            <pc:docMk/>
            <pc:sldMk cId="1465269283" sldId="292"/>
            <ac:graphicFrameMk id="6" creationId="{9A959060-F8A2-7C0F-D6B6-73A58FB3C4B7}"/>
          </ac:graphicFrameMkLst>
        </pc:graphicFrameChg>
        <pc:graphicFrameChg chg="modGraphic">
          <ac:chgData name="Dario Kulaszewski" userId="5e0a1d26-dcfd-46bf-9e2a-de0a25069d19" providerId="ADAL" clId="{7B5AFA6F-F4A3-4E3A-87EC-9088CF6EA9C5}" dt="2026-01-29T14:40:40.361" v="453" actId="20577"/>
          <ac:graphicFrameMkLst>
            <pc:docMk/>
            <pc:sldMk cId="1465269283" sldId="292"/>
            <ac:graphicFrameMk id="9" creationId="{695B6B6B-0CDC-1A44-8F3A-7CEEBC00F5F8}"/>
          </ac:graphicFrameMkLst>
        </pc:graphicFrameChg>
      </pc:sldChg>
      <pc:sldChg chg="modSp mod">
        <pc:chgData name="Dario Kulaszewski" userId="5e0a1d26-dcfd-46bf-9e2a-de0a25069d19" providerId="ADAL" clId="{7B5AFA6F-F4A3-4E3A-87EC-9088CF6EA9C5}" dt="2026-01-29T15:51:12.800" v="455" actId="20577"/>
        <pc:sldMkLst>
          <pc:docMk/>
          <pc:sldMk cId="660274066" sldId="293"/>
        </pc:sldMkLst>
        <pc:spChg chg="mod">
          <ac:chgData name="Dario Kulaszewski" userId="5e0a1d26-dcfd-46bf-9e2a-de0a25069d19" providerId="ADAL" clId="{7B5AFA6F-F4A3-4E3A-87EC-9088CF6EA9C5}" dt="2026-01-29T15:51:12.800" v="455" actId="20577"/>
          <ac:spMkLst>
            <pc:docMk/>
            <pc:sldMk cId="660274066" sldId="293"/>
            <ac:spMk id="3" creationId="{A34B0488-8FE1-D940-9E26-633874D1EC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01A5D-F71F-4E43-8AC3-3E691A019705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C8781-36E8-4663-8ADA-139C258D5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4325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61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24809-5145-C99C-9D39-E9AAB101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E30931-CB43-FD74-04FC-9F95775E3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FAAE8DF-29B7-6B11-1B3A-5B53DA349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1EBA7B-A8C9-B26D-9CC1-BBABC1D37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5938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452A0-7B2B-FB5B-1E38-E8F047B03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58D6235-B87E-A625-B436-BFEF640FF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C9048C4-39F5-59D2-43A7-ED33D8A0E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A3EE35-0A68-8295-D72B-3E7E3B507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9172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92F67-EE83-1E74-F652-621AF23F5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A0953FD-C29D-E382-E7C3-8D591C163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97ED08B-09E4-8545-4700-8E8F3872A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C8ED83-8692-080D-764A-68C5D313C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592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B18E8-86AF-091D-9F87-356BD2598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B3AECCF-21F0-C428-B8BF-C72406753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9F6D387-9244-F13F-2D5D-531CB1F85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F44174-4A34-51B6-3196-D0BFC0D2B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1590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045A4-C992-9B2E-4C86-05A36D55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83A7F3A-226A-830D-15D8-7316CDDCE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106D2EC-F4D5-5585-AE4F-D4A20DAA2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88168-5EF7-FF55-979D-4BC4B7A1A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5125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11A92-6030-B02B-356B-1AD2EBA31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3C43466-37EA-EC77-AC8F-23547D371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32763BD-BE56-72F0-3965-800800F9D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5515C5-63D9-9AAB-3088-0AA1E6E19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6326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FD58D-32D6-39C4-8EB7-083FC7E3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6234573-B31F-F178-5A99-36CFC1B0C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A01B01-09BF-3788-FAA6-1622AD94D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075D2F-A8A4-DC89-E854-6E268523C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83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89B50-C2C5-6AB6-3346-3EDBE4E7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90EA88D-A651-429C-AB20-0D28C6897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65A9B6B-6324-707D-2AEE-E03E55A91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335FAD-7B0A-A3DE-206B-5A94D6619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838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0E9C2-B048-8938-22AF-94E49F672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2B5D78-EC08-E8EC-9830-19DA73C85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D99C2C5-5B7B-2D61-65E1-EEB7FA2ED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C1E06E-8734-6489-D552-CC60D7F83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3239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CAF8-EBFF-8259-234C-0C4A85B59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E554103-0E96-CD2F-ADD5-C2B13E52A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623A461-DD22-1057-865F-1698E23D6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866E1A-1866-A1D1-B502-6DEEBA90B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258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42FA-BBEF-27FD-4D33-99751CF8B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B0C0944-9056-3E08-D92A-43AA79A07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59247C8-15B6-57DB-97E4-72B9F45B6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B18CB7-2AB3-0C95-30D0-FDF3C27D8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6158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027BB-11E5-C0CA-8B9A-A988A34D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DE17520-8167-6E1C-A045-910C57C37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30AD904-3651-0811-C91E-70308B7D0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213A4B-A81D-B643-F878-A43D5D98A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67154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1C912-5A9B-25FB-47BC-96F2D8CCF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524098C-8002-80D5-B171-71D6A8FC2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F6AA6A5-BF1C-6540-795D-7EF7AF7F3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D898DE-C8DA-1CAA-F161-445AE91E9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302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ADC5C-817C-903F-75E5-7F355E4A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2F781D0-0E93-CDBA-E93D-1AD2A6BF3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48A7178-2507-7427-79CD-534633CDB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782AF0-48C9-542D-28CF-429937E92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94809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429AE-74BF-BF5A-134D-FB15B748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BA66AB2-BE35-C272-F632-CE2726D0F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3176416-841C-C648-42D0-B99B9023C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6B6DAB-C872-F313-5C85-6086CA333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3647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B381B-0550-5510-FE09-5362A6F98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B3C85E9-04EF-B5C5-CA8B-A1D962119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A8D6A8-9AB9-9FAA-07F0-245F43C8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3B7F14-4A2B-9FA9-3C24-22960BD92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0508EE-62E4-242F-538D-754F9DE5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8097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0E4E6F-311D-8D0B-1B84-36C498D10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87859D-50AE-99AA-56BE-828229CEA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965560-93CB-9515-7D11-F1492D523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A5722E-7018-877E-25F3-ABDB8D4AD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751E88-12A2-DE06-AFF3-E7754499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47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EA78C5-A659-80CA-1A9B-7839B272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5BFA8F-D18A-0A36-A63B-CB3D80EDB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4DD98B-3468-B60C-56FA-296A5F4A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0110C5-5CB6-FF1C-194D-335CC52D5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945B5B-636A-D0DC-4BE2-FE4ED098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5155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003C7-BDCA-9555-3AB0-5A148C3A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0F728F-7EC7-85C5-8C03-06F28E9E5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3C9B63-40EF-D70B-32D9-763FADF2C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76C86-5055-550C-71A7-11350C61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452D29-B599-70E1-300E-3AA8E01F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B562BE-8988-9B08-7E9A-13D63BFF5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621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87E10A-0257-7A76-51E6-85A01E5D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59321B-D169-0115-63F8-152118802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E7A064-34E3-4B79-F2B2-7AB03CC5E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4C4B44-F523-434B-5758-D5A08CA8C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0C433B1-5FFC-E3EF-1686-19CB81836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3CD3DCF-7CF3-55AC-1640-ADE719BCC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D520220-116C-BA26-B6F1-7A2403850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76D629-D21F-1E55-C802-F2FB70E03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334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FEC047-6B07-9DE2-896D-073DE710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C4AB7F-5FBC-6ADB-5EE1-0FB7C4A4B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F39745-B848-04B0-90EC-A254BE9F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06432A-8C8F-1895-1732-9C2BFAFEB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091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6CDF125-7464-81B7-DCC4-ABC614FC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E335CB0-1D75-D338-2AE1-4501C074D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EFBAC1-EFB9-D4C0-F987-8395B7B5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6214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DA493-48F5-F1EE-20A8-99314211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B9B7CA-BD9D-29D7-E94B-EB0BCF423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CC2221-7C90-8373-5A3E-7DD3B6D1A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ED060B-3C74-E0C5-2AD6-27F72034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D9294D-F360-FD12-F1A9-2FF3D1D2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AEDD31-9294-9FAB-1C93-7D3812C8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015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2F4A4B-7D5D-8010-BEDB-1F652103D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7A00878-969E-6159-AD72-3BF3875474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C496F8-34AB-24F4-F9DB-7A233FD1D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25475E-27BF-9C4E-E99B-FE5B5950D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BED9B1-B492-6953-1DDA-3C5DABEA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FE81D5-45FC-3EAA-C22F-B7860360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223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AFD486-C147-E5B1-A5BC-B628BBB8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119D560-CDB8-41EB-7F65-572317FC2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CCBBAA-2CC2-8C5D-EF4C-3A06048D3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1C9EAE-A33D-0E4D-DEE9-01399971F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479633-8BDF-22BC-66D7-37A5415F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922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2614AB4-64F2-6A00-4734-8FD2D515E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9410A28-72DB-0FE1-11C0-64607C3B3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8F5125-22CC-5780-C514-503D8E380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CB0C91-B82C-F356-CA08-36955B68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72C4BC-8AEA-9853-6DCF-536CE4F1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997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A7E0F26-DF26-C379-A127-5878261A2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CF298A-F095-0B09-1863-97355798B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45778F-5ED1-0DD7-1CA8-863FA5D37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90B0E0-60A8-F17B-0FF1-7260626BC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2D0A7E-6CBB-5A48-807F-C2E9AC177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10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B075CD-BA52-752E-5754-ACE9CD729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Evaluator Instructions (Test Set)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4B0488-8FE1-D940-9E26-633874D1E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86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400" b="1" noProof="0" dirty="0"/>
              <a:t>Your task:</a:t>
            </a:r>
            <a:r>
              <a:rPr lang="en-GB" sz="1400" noProof="0" dirty="0"/>
              <a:t> You will review </a:t>
            </a:r>
            <a:r>
              <a:rPr lang="en-GB" sz="1400" b="1" noProof="0" dirty="0"/>
              <a:t>15 analysis outputs</a:t>
            </a:r>
            <a:r>
              <a:rPr lang="en-GB" sz="1400" noProof="0" dirty="0"/>
              <a:t>. For each output, assign </a:t>
            </a:r>
            <a:r>
              <a:rPr lang="en-GB" sz="1400" b="1" noProof="0" dirty="0"/>
              <a:t>0–3 ratings</a:t>
            </a:r>
            <a:r>
              <a:rPr lang="en-GB" sz="1400" noProof="0" dirty="0"/>
              <a:t> for the listed metrics based on the provided definitions and the dataset description.</a:t>
            </a:r>
          </a:p>
          <a:p>
            <a:r>
              <a:rPr lang="en-GB" sz="1400" noProof="0" dirty="0"/>
              <a:t>Use the prompt + dataset card + shown results to judge whether choices are reasonable.</a:t>
            </a:r>
          </a:p>
          <a:p>
            <a:r>
              <a:rPr lang="en-GB" sz="1400" dirty="0"/>
              <a:t>Analyses variants can be very similar, this is acceptable</a:t>
            </a:r>
            <a:endParaRPr lang="en-GB" sz="1400" noProof="0" dirty="0"/>
          </a:p>
          <a:p>
            <a:r>
              <a:rPr lang="en-GB" sz="1400" dirty="0"/>
              <a:t>Don’t evaluate quality of the log’s appearance (family/type, filters, […]), just evaluate the information in the log</a:t>
            </a:r>
            <a:endParaRPr lang="en-GB" sz="1400" noProof="0" dirty="0"/>
          </a:p>
          <a:p>
            <a:r>
              <a:rPr lang="en-GB" sz="1400" noProof="0" dirty="0"/>
              <a:t>Don’t focus on formatting or language details (except when it’s relevant to the quality, e.g. value range for axis or outlier handling).</a:t>
            </a:r>
          </a:p>
          <a:p>
            <a:r>
              <a:rPr lang="en-GB" sz="1400" noProof="0" dirty="0"/>
              <a:t>If a step (e.g. aggregation) is not needed, it is correct to keep it blank (“none”)</a:t>
            </a:r>
          </a:p>
          <a:p>
            <a:r>
              <a:rPr lang="en-GB" sz="1400" dirty="0"/>
              <a:t>Sometimes filter decisions make sense, even though they weren’t requested in the prompt, that’s the right choice and leads to the highest score</a:t>
            </a:r>
            <a:endParaRPr lang="en-GB" sz="1400" noProof="0" dirty="0"/>
          </a:p>
          <a:p>
            <a:r>
              <a:rPr lang="en-GB" sz="1400" noProof="0" dirty="0"/>
              <a:t>Assume plots are technically correct if the stated processing decisions are plausible.</a:t>
            </a:r>
          </a:p>
          <a:p>
            <a:pPr marL="0" indent="0">
              <a:buNone/>
            </a:pPr>
            <a:endParaRPr lang="en-GB" sz="1400" noProof="0" dirty="0"/>
          </a:p>
          <a:p>
            <a:pPr marL="0" indent="0">
              <a:buNone/>
            </a:pPr>
            <a:r>
              <a:rPr lang="en-GB" sz="1400" noProof="0" dirty="0"/>
              <a:t>Annotator ID (or name/pseudonym): 5</a:t>
            </a:r>
          </a:p>
          <a:p>
            <a:pPr marL="0" indent="0">
              <a:buNone/>
            </a:pPr>
            <a:r>
              <a:rPr lang="en-GB" sz="1400" noProof="0" dirty="0">
                <a:highlight>
                  <a:srgbClr val="FFFF00"/>
                </a:highlight>
              </a:rPr>
              <a:t>Field / Discipline</a:t>
            </a:r>
            <a:r>
              <a:rPr lang="en-GB" sz="1400" noProof="0" dirty="0"/>
              <a:t> (e.g., Computer Science): Data Science / Engineering</a:t>
            </a:r>
          </a:p>
          <a:p>
            <a:pPr marL="0" indent="0">
              <a:buNone/>
            </a:pPr>
            <a:r>
              <a:rPr lang="en-GB" sz="1400" noProof="0" dirty="0">
                <a:highlight>
                  <a:srgbClr val="FFFF00"/>
                </a:highlight>
              </a:rPr>
              <a:t>Qualification / Role</a:t>
            </a:r>
            <a:r>
              <a:rPr lang="en-GB" sz="1400" noProof="0" dirty="0"/>
              <a:t> (closest match; e.g., Data Science student, BSc in Data Science, BI manager): Data Analytics Engineer</a:t>
            </a:r>
          </a:p>
          <a:p>
            <a:pPr marL="0" indent="0">
              <a:buNone/>
            </a:pPr>
            <a:r>
              <a:rPr lang="en-GB" sz="1400" noProof="0" dirty="0">
                <a:highlight>
                  <a:srgbClr val="FFFF00"/>
                </a:highlight>
              </a:rPr>
              <a:t>Gender</a:t>
            </a:r>
            <a:r>
              <a:rPr lang="en-GB" sz="1400" noProof="0" dirty="0"/>
              <a:t>: male</a:t>
            </a:r>
          </a:p>
          <a:p>
            <a:pPr marL="0" indent="0">
              <a:buNone/>
            </a:pPr>
            <a:r>
              <a:rPr lang="en-GB" sz="1400" noProof="0" dirty="0">
                <a:highlight>
                  <a:srgbClr val="FFFF00"/>
                </a:highlight>
              </a:rPr>
              <a:t>Age</a:t>
            </a:r>
            <a:r>
              <a:rPr lang="en-GB" sz="1400" noProof="0" dirty="0"/>
              <a:t>: 27</a:t>
            </a:r>
          </a:p>
          <a:p>
            <a:pPr marL="0" indent="0">
              <a:buNone/>
            </a:pPr>
            <a:endParaRPr lang="en-GB" sz="1400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9D13481-58F0-37F9-CDBB-D789EC301F38}"/>
              </a:ext>
            </a:extLst>
          </p:cNvPr>
          <p:cNvSpPr/>
          <p:nvPr/>
        </p:nvSpPr>
        <p:spPr>
          <a:xfrm>
            <a:off x="953729" y="6381135"/>
            <a:ext cx="10137058" cy="378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027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EB86C-1CD2-DED8-68D2-E0DE942A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8330BC-6BD3-85D3-FEF7-8DC38C280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07777"/>
            <a:ext cx="12192000" cy="6550222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400" b="1" noProof="0" dirty="0"/>
              <a:t>Meaning of Evaluation Metrics</a:t>
            </a:r>
            <a:endParaRPr lang="en-GB" sz="1400" noProof="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perceived_analysis_difficulty</a:t>
            </a:r>
            <a:r>
              <a:rPr lang="de-DE" sz="1400" b="1" dirty="0"/>
              <a:t>: </a:t>
            </a:r>
            <a:r>
              <a:rPr lang="en-US" sz="1400" dirty="0"/>
              <a:t>How hard the prompt itself feels (ambiguity, elements to take into account, analysis complexity).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task_choice_quality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How appropriate the chosen </a:t>
            </a:r>
            <a:r>
              <a:rPr lang="en-US" sz="1400" i="1" dirty="0"/>
              <a:t>analysis family/type</a:t>
            </a:r>
            <a:r>
              <a:rPr lang="en-US" sz="1400" dirty="0"/>
              <a:t> is for the prompt (descriptive [</a:t>
            </a:r>
            <a:r>
              <a:rPr lang="de-DE" sz="1400" dirty="0" err="1"/>
              <a:t>What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</a:t>
            </a:r>
            <a:r>
              <a:rPr lang="de-DE" sz="1400" dirty="0" err="1"/>
              <a:t>happening</a:t>
            </a:r>
            <a:r>
              <a:rPr lang="de-DE" sz="1400" dirty="0"/>
              <a:t>?], </a:t>
            </a:r>
            <a:r>
              <a:rPr lang="en-US" sz="1400" dirty="0"/>
              <a:t>diagnostic [</a:t>
            </a:r>
            <a:r>
              <a:rPr lang="de-DE" sz="1400" dirty="0" err="1"/>
              <a:t>Why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happening</a:t>
            </a:r>
            <a:r>
              <a:rPr lang="de-DE" sz="1400" dirty="0"/>
              <a:t>?],</a:t>
            </a:r>
            <a:r>
              <a:rPr lang="en-US" sz="1400" dirty="0"/>
              <a:t> predictive [</a:t>
            </a:r>
            <a:r>
              <a:rPr lang="de-DE" sz="1400" dirty="0" err="1"/>
              <a:t>What</a:t>
            </a:r>
            <a:r>
              <a:rPr lang="de-DE" sz="1400" dirty="0"/>
              <a:t> will happen?], </a:t>
            </a:r>
            <a:r>
              <a:rPr lang="en-US" sz="1400" dirty="0"/>
              <a:t>prescriptive [</a:t>
            </a:r>
            <a:r>
              <a:rPr lang="de-DE" sz="1400" dirty="0" err="1"/>
              <a:t>What</a:t>
            </a:r>
            <a:r>
              <a:rPr lang="de-DE" sz="1400" dirty="0"/>
              <a:t> </a:t>
            </a:r>
            <a:r>
              <a:rPr lang="de-DE" sz="1400" dirty="0" err="1"/>
              <a:t>should</a:t>
            </a:r>
            <a:r>
              <a:rPr lang="de-DE" sz="1400" dirty="0"/>
              <a:t> </a:t>
            </a:r>
            <a:r>
              <a:rPr lang="de-DE" sz="1400" dirty="0" err="1"/>
              <a:t>we</a:t>
            </a:r>
            <a:r>
              <a:rPr lang="de-DE" sz="1400" dirty="0"/>
              <a:t> do?] and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respective</a:t>
            </a:r>
            <a:r>
              <a:rPr lang="de-DE" sz="1400" dirty="0"/>
              <a:t> </a:t>
            </a:r>
            <a:r>
              <a:rPr lang="de-DE" sz="1400" dirty="0" err="1"/>
              <a:t>analysis</a:t>
            </a:r>
            <a:r>
              <a:rPr lang="de-DE" sz="1400" dirty="0"/>
              <a:t> type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each</a:t>
            </a:r>
            <a:r>
              <a:rPr lang="de-DE" sz="1400" dirty="0"/>
              <a:t> </a:t>
            </a:r>
            <a:r>
              <a:rPr lang="de-DE" sz="1400" dirty="0" err="1"/>
              <a:t>category</a:t>
            </a:r>
            <a:r>
              <a:rPr lang="en-US" sz="1400" dirty="0"/>
              <a:t>)</a:t>
            </a:r>
            <a:r>
              <a:rPr lang="de-DE" sz="1400" dirty="0"/>
              <a:t>.</a:t>
            </a:r>
          </a:p>
          <a:p>
            <a:pPr>
              <a:spcBef>
                <a:spcPts val="300"/>
              </a:spcBef>
            </a:pPr>
            <a:r>
              <a:rPr lang="de-DE" sz="1400" b="1" dirty="0" err="1"/>
              <a:t>data_scope_quality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How reasonable the </a:t>
            </a:r>
            <a:r>
              <a:rPr lang="en-US" sz="1400" b="1" dirty="0"/>
              <a:t>filters + column choices together</a:t>
            </a:r>
            <a:r>
              <a:rPr lang="en-US" sz="1400" dirty="0"/>
              <a:t> are, given the prompt and dataset card.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prep_and_aggregation_quality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How appropriate the prep steps and aggregations are.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summary_quality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Does the written summary faithfully reflect the plots/numbers </a:t>
            </a:r>
            <a:r>
              <a:rPr lang="en-US" sz="1400" b="1" dirty="0"/>
              <a:t>and/or </a:t>
            </a:r>
            <a:r>
              <a:rPr lang="en-US" sz="1400" dirty="0"/>
              <a:t>add useful information?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visualization_helpfulness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Do the plots materially help to understand the answer? Does it cover the whole requested analysis?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en-GB" sz="1400" b="1" dirty="0" err="1"/>
              <a:t>analysis_request_fulfilment</a:t>
            </a:r>
            <a:r>
              <a:rPr lang="en-GB" sz="1400" b="1" dirty="0"/>
              <a:t>:</a:t>
            </a:r>
            <a:r>
              <a:rPr lang="en-GB" sz="1400" dirty="0"/>
              <a:t> Overall, </a:t>
            </a:r>
            <a:r>
              <a:rPr lang="en-US" sz="1400" dirty="0"/>
              <a:t>if you were the person asking this question, does this output feel like it fulfils the analysis request?</a:t>
            </a:r>
            <a:endParaRPr lang="en-GB" sz="1400" dirty="0"/>
          </a:p>
          <a:p>
            <a:pPr marL="0" indent="0">
              <a:spcBef>
                <a:spcPts val="300"/>
              </a:spcBef>
              <a:buNone/>
            </a:pPr>
            <a:endParaRPr lang="en-GB" sz="1400" b="1" dirty="0"/>
          </a:p>
          <a:p>
            <a:pPr marL="0" indent="0">
              <a:spcBef>
                <a:spcPts val="300"/>
              </a:spcBef>
              <a:buNone/>
            </a:pPr>
            <a:endParaRPr lang="en-GB" sz="1400" b="1" noProof="0" dirty="0"/>
          </a:p>
          <a:p>
            <a:pPr marL="0" indent="0">
              <a:spcBef>
                <a:spcPts val="300"/>
              </a:spcBef>
              <a:buNone/>
            </a:pPr>
            <a:r>
              <a:rPr lang="en-GB" sz="1400" b="1" noProof="0" dirty="0"/>
              <a:t>Evaluation scale (0-3)</a:t>
            </a:r>
          </a:p>
          <a:p>
            <a:pPr>
              <a:spcBef>
                <a:spcPts val="300"/>
              </a:spcBef>
            </a:pPr>
            <a:r>
              <a:rPr lang="en-US" sz="1400" noProof="0" dirty="0"/>
              <a:t>0 – Poor: Clearly wrong / off; would mislead a stakeholder.</a:t>
            </a:r>
          </a:p>
          <a:p>
            <a:pPr>
              <a:spcBef>
                <a:spcPts val="300"/>
              </a:spcBef>
            </a:pPr>
            <a:r>
              <a:rPr lang="en-US" sz="1400" noProof="0" dirty="0"/>
              <a:t>1 – Weak: Partly reasonable but with major issues or gaps.</a:t>
            </a:r>
          </a:p>
          <a:p>
            <a:pPr>
              <a:spcBef>
                <a:spcPts val="300"/>
              </a:spcBef>
            </a:pPr>
            <a:r>
              <a:rPr lang="en-US" sz="1400" noProof="0" dirty="0"/>
              <a:t>2 – OK: Mostly reasonable; only minor issues that don’t change the main takeaway.</a:t>
            </a:r>
          </a:p>
          <a:p>
            <a:pPr>
              <a:spcBef>
                <a:spcPts val="300"/>
              </a:spcBef>
            </a:pPr>
            <a:r>
              <a:rPr lang="en-US" sz="1400" noProof="0" dirty="0"/>
              <a:t>3 – Strong: Clearly appropriate and high-quality; no substantive issues.</a:t>
            </a:r>
            <a:endParaRPr lang="de-DE" sz="1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18CF706-2697-7A8E-4F49-F0EDA14306F0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GB" sz="1400" noProof="0" dirty="0"/>
              <a:t>Explanation of the experimental design</a:t>
            </a:r>
            <a:endParaRPr lang="en-GB" sz="1400" b="0" i="0" noProof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4846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DC2522-4702-94E9-AC28-5B84EA09E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1610"/>
            <a:ext cx="12192000" cy="6596389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000" b="1" dirty="0"/>
              <a:t>Short description of the data (domain view)</a:t>
            </a:r>
            <a:endParaRPr lang="de-DE" sz="1000" dirty="0"/>
          </a:p>
          <a:p>
            <a:pPr marL="0" indent="0">
              <a:spcBef>
                <a:spcPts val="300"/>
              </a:spcBef>
              <a:buNone/>
            </a:pPr>
            <a:r>
              <a:rPr lang="en-GB" sz="1000" dirty="0"/>
              <a:t>General context: The data describes production operations in a manufacturing environment. Each row represents a single operation (e.g., drilling, milling) within a production order. A production order can consist of multiple operations. The data includes planned dates, actual dates, cycle times and various schedule deviations (TA).</a:t>
            </a:r>
            <a:endParaRPr lang="de-DE" sz="1000" dirty="0"/>
          </a:p>
          <a:p>
            <a:pPr marL="0" indent="0">
              <a:spcBef>
                <a:spcPts val="300"/>
              </a:spcBef>
              <a:buNone/>
            </a:pPr>
            <a:endParaRPr lang="de-DE" sz="1000" b="1" dirty="0"/>
          </a:p>
          <a:p>
            <a:pPr marL="0" indent="0">
              <a:spcBef>
                <a:spcPts val="300"/>
              </a:spcBef>
              <a:buNone/>
            </a:pPr>
            <a:r>
              <a:rPr lang="de-DE" sz="1000" b="1" dirty="0"/>
              <a:t>Field </a:t>
            </a:r>
            <a:r>
              <a:rPr lang="de-DE" sz="1000" b="1" dirty="0" err="1"/>
              <a:t>definitions</a:t>
            </a:r>
            <a:endParaRPr lang="de-DE" sz="1000" b="1" dirty="0"/>
          </a:p>
          <a:p>
            <a:pPr>
              <a:spcBef>
                <a:spcPts val="300"/>
              </a:spcBef>
            </a:pPr>
            <a:r>
              <a:rPr lang="en-GB" sz="1000" dirty="0" err="1"/>
              <a:t>pps_order_id</a:t>
            </a:r>
            <a:r>
              <a:rPr lang="en-GB" sz="1000" dirty="0"/>
              <a:t>: Unique ID of a production order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pps_order_pos_id</a:t>
            </a:r>
            <a:r>
              <a:rPr lang="en-GB" sz="1000" dirty="0"/>
              <a:t>: Unique ID of the operation within the order (one order consists of multiple operations)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resource_group</a:t>
            </a:r>
            <a:r>
              <a:rPr lang="en-GB" sz="1000" dirty="0"/>
              <a:t>: Operations are executed on specific machine groups / resource groups (e.g., CNC milling, drilling machines)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plan_start</a:t>
            </a:r>
            <a:r>
              <a:rPr lang="en-GB" sz="1000" dirty="0"/>
              <a:t>: Planned operation start (date, day-level granularity)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ist_start</a:t>
            </a:r>
            <a:r>
              <a:rPr lang="en-GB" sz="1000" dirty="0"/>
              <a:t>: Actual start (date, day-level granularity)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plan_ende</a:t>
            </a:r>
            <a:r>
              <a:rPr lang="en-GB" sz="1000" dirty="0"/>
              <a:t>: Planned end (date, day-level granularity)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ist_ende</a:t>
            </a:r>
            <a:r>
              <a:rPr lang="en-GB" sz="1000" dirty="0"/>
              <a:t>: Actual end (date, day-level granularity) (if available)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/>
              <a:t>status: Operation status (e.g., “in progress”, “finished”)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avg_type</a:t>
            </a:r>
            <a:r>
              <a:rPr lang="en-GB" sz="1000" dirty="0"/>
              <a:t>: Operation type (drilling, milling, assembly, etc.), more specific than </a:t>
            </a:r>
            <a:r>
              <a:rPr lang="en-GB" sz="1000" dirty="0" err="1"/>
              <a:t>resource_group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ist_dlz</a:t>
            </a:r>
            <a:r>
              <a:rPr lang="en-GB" sz="1000" dirty="0"/>
              <a:t>: Cycle time / Lead time (in days), computed as </a:t>
            </a:r>
            <a:r>
              <a:rPr lang="en-GB" sz="1000" dirty="0" err="1"/>
              <a:t>ist_ende</a:t>
            </a:r>
            <a:r>
              <a:rPr lang="en-GB" sz="1000" dirty="0"/>
              <a:t> minus </a:t>
            </a:r>
            <a:r>
              <a:rPr lang="en-GB" sz="1000" dirty="0" err="1"/>
              <a:t>ist_start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ta_zugang</a:t>
            </a:r>
            <a:r>
              <a:rPr lang="en-GB" sz="1000" dirty="0"/>
              <a:t>: Start schedule deviation (TA for </a:t>
            </a:r>
            <a:r>
              <a:rPr lang="en-GB" sz="1000" dirty="0" err="1"/>
              <a:t>Terminabweichung</a:t>
            </a:r>
            <a:r>
              <a:rPr lang="en-GB" sz="1000" dirty="0"/>
              <a:t>) (in days), computed as </a:t>
            </a:r>
            <a:r>
              <a:rPr lang="en-GB" sz="1000" dirty="0" err="1"/>
              <a:t>ist_start</a:t>
            </a:r>
            <a:r>
              <a:rPr lang="en-GB" sz="1000" dirty="0"/>
              <a:t> − </a:t>
            </a:r>
            <a:r>
              <a:rPr lang="en-GB" sz="1000" dirty="0" err="1"/>
              <a:t>plan_start</a:t>
            </a:r>
            <a:r>
              <a:rPr lang="en-GB" sz="1000" dirty="0"/>
              <a:t>; positive = start occurred later than planned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ta_abgang</a:t>
            </a:r>
            <a:r>
              <a:rPr lang="en-GB" sz="1000" dirty="0"/>
              <a:t>: End schedule deviation (TA for </a:t>
            </a:r>
            <a:r>
              <a:rPr lang="en-GB" sz="1000" dirty="0" err="1"/>
              <a:t>Terminabweichung</a:t>
            </a:r>
            <a:r>
              <a:rPr lang="en-GB" sz="1000" dirty="0"/>
              <a:t>) (in days), computed as </a:t>
            </a:r>
            <a:r>
              <a:rPr lang="en-GB" sz="1000" dirty="0" err="1"/>
              <a:t>ist_ende</a:t>
            </a:r>
            <a:r>
              <a:rPr lang="en-GB" sz="1000" dirty="0"/>
              <a:t> − </a:t>
            </a:r>
            <a:r>
              <a:rPr lang="en-GB" sz="1000" dirty="0" err="1"/>
              <a:t>plan_ende</a:t>
            </a:r>
            <a:r>
              <a:rPr lang="en-GB" sz="1000" dirty="0"/>
              <a:t>; positive = end occurred later than planned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ta_rel</a:t>
            </a:r>
            <a:r>
              <a:rPr lang="en-GB" sz="1000" dirty="0"/>
              <a:t>: Lead-time (or cycle time) deviation (in days) from planned to actual lead time, computed as </a:t>
            </a:r>
            <a:r>
              <a:rPr lang="en-GB" sz="1000" dirty="0" err="1"/>
              <a:t>ta_abgang</a:t>
            </a:r>
            <a:r>
              <a:rPr lang="en-GB" sz="1000" dirty="0"/>
              <a:t> − </a:t>
            </a:r>
            <a:r>
              <a:rPr lang="en-GB" sz="1000" dirty="0" err="1"/>
              <a:t>ta_zugang</a:t>
            </a:r>
            <a:r>
              <a:rPr lang="en-GB" sz="1000" dirty="0"/>
              <a:t>; positive = lead time was longer than planned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ta_status</a:t>
            </a:r>
            <a:r>
              <a:rPr lang="en-GB" sz="1000" dirty="0"/>
              <a:t>: Indicates whether the operation ran with schedule deviation (“</a:t>
            </a:r>
            <a:r>
              <a:rPr lang="en-GB" sz="1000" dirty="0" err="1"/>
              <a:t>mit</a:t>
            </a:r>
            <a:r>
              <a:rPr lang="en-GB" sz="1000" dirty="0"/>
              <a:t> TA”) or without schedule deviation (“</a:t>
            </a:r>
            <a:r>
              <a:rPr lang="en-GB" sz="1000" dirty="0" err="1"/>
              <a:t>ohne</a:t>
            </a:r>
            <a:r>
              <a:rPr lang="en-GB" sz="1000" dirty="0"/>
              <a:t> TA”)</a:t>
            </a:r>
            <a:endParaRPr lang="de-DE" sz="1000" dirty="0"/>
          </a:p>
          <a:p>
            <a:pPr marL="0" indent="0">
              <a:spcBef>
                <a:spcPts val="300"/>
              </a:spcBef>
              <a:buNone/>
            </a:pPr>
            <a:endParaRPr lang="de-DE" sz="10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000" b="1" noProof="0" dirty="0"/>
              <a:t>Dataset summary (rows/cols, </a:t>
            </a:r>
            <a:r>
              <a:rPr lang="en-US" sz="1000" b="1" noProof="0" dirty="0" err="1"/>
              <a:t>uniques</a:t>
            </a:r>
            <a:r>
              <a:rPr lang="en-US" sz="1000" b="1" noProof="0" dirty="0"/>
              <a:t>, ranges, missingness)</a:t>
            </a:r>
            <a:endParaRPr lang="en-GB" sz="1000" b="1" noProof="0" dirty="0"/>
          </a:p>
          <a:p>
            <a:pPr>
              <a:spcBef>
                <a:spcPts val="300"/>
              </a:spcBef>
            </a:pPr>
            <a:r>
              <a:rPr lang="en-GB" sz="1000" noProof="0" dirty="0"/>
              <a:t>Dataset (complete): 14 columns, 19887 rows</a:t>
            </a:r>
          </a:p>
          <a:p>
            <a:pPr>
              <a:spcBef>
                <a:spcPts val="300"/>
              </a:spcBef>
            </a:pPr>
            <a:r>
              <a:rPr lang="en-GB" sz="1000" noProof="0" dirty="0" err="1"/>
              <a:t>pps_order_id</a:t>
            </a:r>
            <a:r>
              <a:rPr lang="en-GB" sz="1000" noProof="0" dirty="0"/>
              <a:t>: 5629 unique values (order id)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pps_order_pos_id</a:t>
            </a:r>
            <a:r>
              <a:rPr lang="en-GB" sz="1000" noProof="0" dirty="0"/>
              <a:t>: Typically values such as 10, 20, 30 and so on, representing  the sub ids within one order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resource_group</a:t>
            </a:r>
            <a:r>
              <a:rPr lang="en-GB" sz="1000" noProof="0" dirty="0"/>
              <a:t>: 21 categories, most common are “</a:t>
            </a:r>
            <a:r>
              <a:rPr lang="en-GB" sz="1000" noProof="0" dirty="0" err="1"/>
              <a:t>Fräsen</a:t>
            </a:r>
            <a:r>
              <a:rPr lang="en-GB" sz="1000" noProof="0" dirty="0"/>
              <a:t> Gruppe </a:t>
            </a:r>
            <a:r>
              <a:rPr lang="en-GB" sz="1000" noProof="0" dirty="0" err="1"/>
              <a:t>Kleinteile</a:t>
            </a:r>
            <a:r>
              <a:rPr lang="en-GB" sz="1000" noProof="0" dirty="0"/>
              <a:t>” (2837), “</a:t>
            </a:r>
            <a:r>
              <a:rPr lang="en-GB" sz="1000" noProof="0" dirty="0" err="1"/>
              <a:t>Sägen</a:t>
            </a:r>
            <a:r>
              <a:rPr lang="en-GB" sz="1000" noProof="0" dirty="0"/>
              <a:t>” (2463), “Montage” (2317) and “</a:t>
            </a:r>
            <a:r>
              <a:rPr lang="en-GB" sz="1000" noProof="0" dirty="0" err="1"/>
              <a:t>Schleifen</a:t>
            </a:r>
            <a:r>
              <a:rPr lang="en-GB" sz="1000" noProof="0" dirty="0"/>
              <a:t>-Gruppe” (2036)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plan_start</a:t>
            </a:r>
            <a:r>
              <a:rPr lang="en-GB" sz="1000" noProof="0" dirty="0"/>
              <a:t>: earliest date on 18</a:t>
            </a:r>
            <a:r>
              <a:rPr lang="en-GB" sz="1000" baseline="30000" noProof="0" dirty="0"/>
              <a:t>th</a:t>
            </a:r>
            <a:r>
              <a:rPr lang="en-GB" sz="1000" noProof="0" dirty="0"/>
              <a:t> of </a:t>
            </a:r>
            <a:r>
              <a:rPr lang="en-GB" sz="1000" dirty="0"/>
              <a:t>D</a:t>
            </a:r>
            <a:r>
              <a:rPr lang="en-GB" sz="1000" noProof="0" dirty="0" err="1"/>
              <a:t>ecember</a:t>
            </a:r>
            <a:r>
              <a:rPr lang="en-GB" sz="1000" noProof="0" dirty="0"/>
              <a:t> 2023 and latest date on 30</a:t>
            </a:r>
            <a:r>
              <a:rPr lang="en-GB" sz="1000" baseline="30000" noProof="0" dirty="0"/>
              <a:t>th</a:t>
            </a:r>
            <a:r>
              <a:rPr lang="en-GB" sz="1000" noProof="0" dirty="0"/>
              <a:t> of April 2025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ist_start</a:t>
            </a:r>
            <a:r>
              <a:rPr lang="en-GB" sz="1000" noProof="0" dirty="0"/>
              <a:t>: </a:t>
            </a:r>
            <a:r>
              <a:rPr lang="en-GB" sz="1000" dirty="0"/>
              <a:t>earliest date on 12</a:t>
            </a:r>
            <a:r>
              <a:rPr lang="en-GB" sz="1000" baseline="30000" dirty="0"/>
              <a:t>th</a:t>
            </a:r>
            <a:r>
              <a:rPr lang="en-GB" sz="1000" dirty="0"/>
              <a:t> of August 2023 and latest date on 14</a:t>
            </a:r>
            <a:r>
              <a:rPr lang="en-GB" sz="1000" baseline="30000" dirty="0"/>
              <a:t>th</a:t>
            </a:r>
            <a:r>
              <a:rPr lang="en-GB" sz="1000" dirty="0"/>
              <a:t> of May 2025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plan_ende</a:t>
            </a:r>
            <a:r>
              <a:rPr lang="en-GB" sz="1000" noProof="0" dirty="0"/>
              <a:t>: </a:t>
            </a:r>
            <a:r>
              <a:rPr lang="en-GB" sz="1000" dirty="0"/>
              <a:t>earliest date on 1</a:t>
            </a:r>
            <a:r>
              <a:rPr lang="en-GB" sz="1000" baseline="30000" dirty="0"/>
              <a:t>st</a:t>
            </a:r>
            <a:r>
              <a:rPr lang="en-GB" sz="1000" dirty="0"/>
              <a:t> of May 2024 and latest date on 30</a:t>
            </a:r>
            <a:r>
              <a:rPr lang="en-GB" sz="1000" baseline="30000" dirty="0"/>
              <a:t>th</a:t>
            </a:r>
            <a:r>
              <a:rPr lang="en-GB" sz="1000" dirty="0"/>
              <a:t> of April 2025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ist_ende</a:t>
            </a:r>
            <a:r>
              <a:rPr lang="en-GB" sz="1000" noProof="0" dirty="0"/>
              <a:t>: </a:t>
            </a:r>
            <a:r>
              <a:rPr lang="en-GB" sz="1000" dirty="0"/>
              <a:t>earliest date on 13</a:t>
            </a:r>
            <a:r>
              <a:rPr lang="en-GB" sz="1000" baseline="30000" dirty="0"/>
              <a:t>th</a:t>
            </a:r>
            <a:r>
              <a:rPr lang="en-GB" sz="1000" dirty="0"/>
              <a:t> of August 2023 and latest date on 16</a:t>
            </a:r>
            <a:r>
              <a:rPr lang="en-GB" sz="1000" baseline="30000" dirty="0"/>
              <a:t>th</a:t>
            </a:r>
            <a:r>
              <a:rPr lang="en-GB" sz="1000" dirty="0"/>
              <a:t> of April 2025, 723 missing values due to unfinished operations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/>
              <a:t>status:  2 categories, </a:t>
            </a:r>
            <a:r>
              <a:rPr lang="en-GB" sz="1000" noProof="0" dirty="0" err="1"/>
              <a:t>fertiggemeldet</a:t>
            </a:r>
            <a:r>
              <a:rPr lang="en-GB" sz="1000" noProof="0" dirty="0"/>
              <a:t> (19164), </a:t>
            </a:r>
            <a:r>
              <a:rPr lang="en-GB" sz="1000" noProof="0" dirty="0" err="1"/>
              <a:t>laufend</a:t>
            </a:r>
            <a:r>
              <a:rPr lang="en-GB" sz="1000" noProof="0" dirty="0"/>
              <a:t> (723)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avg_type</a:t>
            </a:r>
            <a:r>
              <a:rPr lang="en-GB" sz="1000" noProof="0" dirty="0"/>
              <a:t>: 159 categories, most common are “</a:t>
            </a:r>
            <a:r>
              <a:rPr lang="de-DE" sz="1000" noProof="0" dirty="0"/>
              <a:t>Rohmaterial auf Länge sägen“ (2357), „Kleinbauteile schlichten“ (1883), „Funktionsprüfung“ (1882), „Profilschleifen“ (1702)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ist_dlz</a:t>
            </a:r>
            <a:r>
              <a:rPr lang="en-GB" sz="1000" noProof="0" dirty="0"/>
              <a:t>: all values between 0 and 36, but typically 1 day, </a:t>
            </a:r>
            <a:r>
              <a:rPr lang="en-GB" sz="1000" dirty="0"/>
              <a:t>723 missing values due to unfinished operations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ta_zugang</a:t>
            </a:r>
            <a:r>
              <a:rPr lang="en-GB" sz="1000" noProof="0" dirty="0"/>
              <a:t>: values typically between -15 and 3 days, but some big outliers, median at -2 days</a:t>
            </a:r>
          </a:p>
          <a:p>
            <a:pPr lvl="0">
              <a:spcBef>
                <a:spcPts val="300"/>
              </a:spcBef>
            </a:pPr>
            <a:r>
              <a:rPr lang="en-GB" sz="1000" dirty="0" err="1"/>
              <a:t>ta_abgang</a:t>
            </a:r>
            <a:r>
              <a:rPr lang="en-GB" sz="1000" dirty="0"/>
              <a:t>: </a:t>
            </a:r>
            <a:r>
              <a:rPr lang="en-GB" sz="1000" noProof="0" dirty="0"/>
              <a:t> </a:t>
            </a:r>
            <a:r>
              <a:rPr lang="en-GB" sz="1000" dirty="0"/>
              <a:t>values typically between -18 and 1 days, but some big outliers, median at -4 days, 723 missing values due to unfinished operations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ta_rel</a:t>
            </a:r>
            <a:r>
              <a:rPr lang="en-GB" sz="1000" noProof="0" dirty="0"/>
              <a:t>: </a:t>
            </a:r>
            <a:r>
              <a:rPr lang="en-GB" sz="1000" dirty="0"/>
              <a:t>values typically between -3 and 0 days, but some big outliers, median at -1 day, 723 missing values due to unfinished operations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ta_status</a:t>
            </a:r>
            <a:r>
              <a:rPr lang="en-GB" sz="1000" noProof="0" dirty="0"/>
              <a:t>: 3 </a:t>
            </a:r>
            <a:r>
              <a:rPr lang="en-GB" sz="1000" noProof="0" dirty="0" err="1"/>
              <a:t>categor</a:t>
            </a:r>
            <a:r>
              <a:rPr lang="en-GB" sz="1000" dirty="0" err="1"/>
              <a:t>ies</a:t>
            </a:r>
            <a:r>
              <a:rPr lang="en-GB" sz="1000" dirty="0"/>
              <a:t>, “</a:t>
            </a:r>
            <a:r>
              <a:rPr lang="de-DE" sz="1000" dirty="0"/>
              <a:t>ohne TA“ (</a:t>
            </a:r>
            <a:r>
              <a:rPr lang="de-DE" sz="1000" dirty="0" err="1"/>
              <a:t>meaning</a:t>
            </a:r>
            <a:r>
              <a:rPr lang="de-DE" sz="1000" dirty="0"/>
              <a:t>: </a:t>
            </a:r>
            <a:r>
              <a:rPr lang="de-DE" sz="1000" dirty="0" err="1"/>
              <a:t>everything</a:t>
            </a:r>
            <a:r>
              <a:rPr lang="de-DE" sz="1000" dirty="0"/>
              <a:t> on time) (13670), „mit TA“ (</a:t>
            </a:r>
            <a:r>
              <a:rPr lang="de-DE" sz="1000" dirty="0" err="1"/>
              <a:t>meaning</a:t>
            </a:r>
            <a:r>
              <a:rPr lang="de-DE" sz="1000" dirty="0"/>
              <a:t>: </a:t>
            </a:r>
            <a:r>
              <a:rPr lang="de-DE" sz="1000" dirty="0" err="1"/>
              <a:t>something</a:t>
            </a:r>
            <a:r>
              <a:rPr lang="de-DE" sz="1000" dirty="0"/>
              <a:t> not on time) (5494), „TA nicht erreichbar“ (</a:t>
            </a:r>
            <a:r>
              <a:rPr lang="de-DE" sz="1000" dirty="0" err="1"/>
              <a:t>meaning</a:t>
            </a:r>
            <a:r>
              <a:rPr lang="de-DE" sz="1000" dirty="0"/>
              <a:t>: </a:t>
            </a:r>
            <a:r>
              <a:rPr lang="de-DE" sz="1000" dirty="0" err="1"/>
              <a:t>operation</a:t>
            </a:r>
            <a:r>
              <a:rPr lang="de-DE" sz="1000" dirty="0"/>
              <a:t> still </a:t>
            </a:r>
            <a:r>
              <a:rPr lang="de-DE" sz="1000" dirty="0" err="1"/>
              <a:t>running</a:t>
            </a:r>
            <a:r>
              <a:rPr lang="de-DE" sz="1000" dirty="0"/>
              <a:t> and </a:t>
            </a:r>
            <a:r>
              <a:rPr lang="de-DE" sz="1000" dirty="0" err="1"/>
              <a:t>already</a:t>
            </a:r>
            <a:r>
              <a:rPr lang="de-DE" sz="1000" dirty="0"/>
              <a:t> </a:t>
            </a:r>
            <a:r>
              <a:rPr lang="de-DE" sz="1000" dirty="0" err="1"/>
              <a:t>something</a:t>
            </a:r>
            <a:r>
              <a:rPr lang="de-DE" sz="1000" dirty="0"/>
              <a:t> </a:t>
            </a:r>
            <a:r>
              <a:rPr lang="de-DE" sz="1000" dirty="0" err="1"/>
              <a:t>late</a:t>
            </a:r>
            <a:r>
              <a:rPr lang="de-DE" sz="1000" dirty="0"/>
              <a:t>) (723)</a:t>
            </a:r>
          </a:p>
          <a:p>
            <a:pPr marL="0" indent="0">
              <a:spcBef>
                <a:spcPts val="300"/>
              </a:spcBef>
              <a:buNone/>
            </a:pPr>
            <a:endParaRPr lang="de-DE" sz="1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AAD2059-AABB-3556-534A-648F76B33E23}"/>
              </a:ext>
            </a:extLst>
          </p:cNvPr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GB" sz="1000" noProof="0" dirty="0"/>
              <a:t>Explanation of the data</a:t>
            </a:r>
            <a:r>
              <a:rPr lang="en-GB" sz="1000" dirty="0"/>
              <a:t>set</a:t>
            </a:r>
            <a:endParaRPr lang="en-GB" sz="1000" b="0" i="0" noProof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40745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9D58-9EB9-BB50-A7C1-81612679D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1F97D4BB-190B-21DF-56A4-249021A8A32C}"/>
              </a:ext>
            </a:extLst>
          </p:cNvPr>
          <p:cNvSpPr txBox="1"/>
          <p:nvPr/>
        </p:nvSpPr>
        <p:spPr>
          <a:xfrm>
            <a:off x="5812301" y="403122"/>
            <a:ext cx="318867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distribution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resource_group</a:t>
            </a:r>
            <a:r>
              <a:rPr lang="de-DE" sz="1000" dirty="0">
                <a:latin typeface="Menlo"/>
              </a:rPr>
              <a:t> == Sägen; </a:t>
            </a:r>
            <a:br>
              <a:rPr lang="de-DE" sz="1000" dirty="0">
                <a:latin typeface="Menlo"/>
              </a:rPr>
            </a:br>
            <a:r>
              <a:rPr lang="de-DE" sz="1000" dirty="0" err="1">
                <a:latin typeface="Menlo"/>
              </a:rPr>
              <a:t>ist_ende</a:t>
            </a:r>
            <a:r>
              <a:rPr lang="de-DE" sz="1000" dirty="0">
                <a:latin typeface="Menlo"/>
              </a:rPr>
              <a:t> &gt;= 2024-01-01; </a:t>
            </a:r>
            <a:r>
              <a:rPr lang="de-DE" sz="1000" dirty="0" err="1">
                <a:latin typeface="Menlo"/>
              </a:rPr>
              <a:t>ist_ende</a:t>
            </a:r>
            <a:r>
              <a:rPr lang="de-DE" sz="1000" dirty="0">
                <a:latin typeface="Menlo"/>
              </a:rPr>
              <a:t> &lt; 2025-01-01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(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Sawing operations in 2024 finished on average 0.34 days early, with most deviations between −3 and +1 days. A few </a:t>
            </a:r>
            <a:r>
              <a:rPr lang="en-US" sz="1000" dirty="0" err="1">
                <a:latin typeface="Menlo"/>
              </a:rPr>
              <a:t>sawings</a:t>
            </a:r>
            <a:r>
              <a:rPr lang="en-US" sz="1000" dirty="0">
                <a:latin typeface="Menlo"/>
              </a:rPr>
              <a:t> were as early as −6 days or as late as +1 day. Investigate causes of extreme early finishes.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F0CD459-2C94-B362-42DD-EFE0662B62C8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A07BE9E-9D5D-98DB-628B-1A592FDE43D8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4CB8794-800D-D5CE-442F-6F54F5F17BAE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630627B1-4178-F126-9FEC-391A6851899D}"/>
              </a:ext>
            </a:extLst>
          </p:cNvPr>
          <p:cNvSpPr txBox="1"/>
          <p:nvPr/>
        </p:nvSpPr>
        <p:spPr>
          <a:xfrm>
            <a:off x="5812301" y="255551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distribution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 == </a:t>
            </a:r>
            <a:r>
              <a:rPr lang="en-US" sz="1000" dirty="0" err="1">
                <a:latin typeface="Menlo"/>
              </a:rPr>
              <a:t>Sägen</a:t>
            </a:r>
            <a:r>
              <a:rPr lang="en-US" sz="1000" dirty="0">
                <a:latin typeface="Menlo"/>
              </a:rPr>
              <a:t>;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&gt;= 2024-01-01;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&lt; 2025-01-01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cycle_dev_days</a:t>
            </a:r>
            <a:r>
              <a:rPr lang="en-US" sz="1000" dirty="0">
                <a:latin typeface="Menlo"/>
              </a:rPr>
              <a:t> (actual − planned cycle time)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Prepare:</a:t>
            </a:r>
            <a:r>
              <a:rPr lang="en-US" sz="1000" dirty="0">
                <a:latin typeface="Menlo"/>
              </a:rPr>
              <a:t> Drop rows with missing start/end times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  <a:br>
              <a:rPr lang="en-US" sz="1000" dirty="0">
                <a:latin typeface="Menlo"/>
              </a:rPr>
            </a:b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Sawing operations in 2024 ran on average 0.13 days faster than planned, with most cycle time deviations between −2 and +1 days and extremes from −6 to +1 days. 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4E9B221-3540-8F53-F7E7-FF1F2B560049}"/>
              </a:ext>
            </a:extLst>
          </p:cNvPr>
          <p:cNvSpPr txBox="1"/>
          <p:nvPr/>
        </p:nvSpPr>
        <p:spPr>
          <a:xfrm>
            <a:off x="5812301" y="4679936"/>
            <a:ext cx="318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distribution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ta_rel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Computed distribution of 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 (days):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n=19164, mean≈-1.59, range≈[-148.00, 36.00].</a:t>
            </a:r>
          </a:p>
        </p:txBody>
      </p:sp>
      <p:pic>
        <p:nvPicPr>
          <p:cNvPr id="3" name="Grafik 2" descr="Ein Bild, das Diagramm, Reih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45BE1B0B-47A8-A1C0-354B-CEDE44509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" y="4752859"/>
            <a:ext cx="5440495" cy="206079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92D168F-B072-1B2C-7C32-00B8E985BC94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1:</a:t>
            </a:r>
            <a:r>
              <a:rPr lang="de-DE" sz="1400" noProof="0" dirty="0">
                <a:latin typeface="Menlo"/>
              </a:rPr>
              <a:t> </a:t>
            </a:r>
            <a:r>
              <a:rPr lang="en-US" sz="1400" dirty="0">
                <a:latin typeface="Menlo"/>
              </a:rPr>
              <a:t>Display the distribution of cycle time deviation for sawing operations with completion in 2024</a:t>
            </a:r>
            <a:r>
              <a:rPr lang="en-US" sz="1400" noProof="0" dirty="0">
                <a:latin typeface="Menlo"/>
              </a:rPr>
              <a:t>.</a:t>
            </a:r>
          </a:p>
        </p:txBody>
      </p:sp>
      <p:pic>
        <p:nvPicPr>
          <p:cNvPr id="11" name="Grafik 10" descr="Ein Bild, das Diagramm, Reihe, Screenshot, Text enthält.&#10;&#10;KI-generierte Inhalte können fehlerhaft sein.">
            <a:extLst>
              <a:ext uri="{FF2B5EF4-FFF2-40B4-BE49-F238E27FC236}">
                <a16:creationId xmlns:a16="http://schemas.microsoft.com/office/drawing/2014/main" id="{45F380CB-2B79-DFB0-4A20-F1352618F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450650"/>
            <a:ext cx="5509322" cy="204452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AFE5627-548F-F692-2BDF-C60E1A2AC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2599927"/>
            <a:ext cx="4911123" cy="2023927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F2FCA98-B194-EE43-6219-81A7ACD08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688764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0661174-CDD4-27F5-AC93-C3F0C36B2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628928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CCFCDD0-C8D8-1547-C588-4FD3A32B2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803333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EF334148-D062-5814-50E9-496E11F55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766036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098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D9307-6C6A-D3C9-0882-A30615B2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4F3C9530-4E5D-CAE4-944D-18509AC9820C}"/>
              </a:ext>
            </a:extLst>
          </p:cNvPr>
          <p:cNvSpPr txBox="1"/>
          <p:nvPr/>
        </p:nvSpPr>
        <p:spPr>
          <a:xfrm>
            <a:off x="5812301" y="403122"/>
            <a:ext cx="31886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stats summary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Finished operations average 1.13 days cycle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time. Most complete in 0 to 2 days, some last up to 36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days. High rate of identical cycle times.</a:t>
            </a:r>
          </a:p>
          <a:p>
            <a:pPr latinLnBrk="1"/>
            <a:endParaRPr lang="en-US" sz="1000" dirty="0">
              <a:latin typeface="Menlo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492A86F-903C-5480-463A-6E6CEFD077A3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7F8F6E8C-251E-496C-DD08-3E76C6343C2D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8A36860-FB9D-50F0-FFA0-7B7C0DFA3648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50A9ABAE-EA3F-5768-741B-CFA81E431E51}"/>
              </a:ext>
            </a:extLst>
          </p:cNvPr>
          <p:cNvSpPr txBox="1"/>
          <p:nvPr/>
        </p:nvSpPr>
        <p:spPr>
          <a:xfrm>
            <a:off x="5812301" y="2555512"/>
            <a:ext cx="31886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Menlo"/>
              </a:rPr>
              <a:t>Family/type:</a:t>
            </a:r>
            <a:r>
              <a:rPr lang="en-US" sz="1000" dirty="0">
                <a:latin typeface="Menlo"/>
              </a:rPr>
              <a:t> descriptive, summary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Filters:</a:t>
            </a:r>
            <a:r>
              <a:rPr lang="en-US" sz="1000" dirty="0">
                <a:latin typeface="Menlo"/>
              </a:rPr>
              <a:t>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not missing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ist_dlz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Drop rows with missing </a:t>
            </a:r>
            <a:r>
              <a:rPr lang="en-US" sz="1000" dirty="0" err="1">
                <a:latin typeface="Menlo"/>
              </a:rPr>
              <a:t>ist_dlz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summary stats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endParaRPr lang="en-US" sz="1000" dirty="0">
              <a:latin typeface="Menlo"/>
            </a:endParaRPr>
          </a:p>
          <a:p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Finished operations have a mean cycle time of 1.13 days and median 1 day, with most between 1 and 1 day and extremes from 0 to 36 days; a small share of jobs shows very long cycle times.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7ACC6EE-F106-1DF9-A15D-0E1165E53232}"/>
              </a:ext>
            </a:extLst>
          </p:cNvPr>
          <p:cNvSpPr txBox="1"/>
          <p:nvPr/>
        </p:nvSpPr>
        <p:spPr>
          <a:xfrm>
            <a:off x="5812301" y="4684975"/>
            <a:ext cx="318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stats summary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ok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Display key statistics of cycles times for finished operations.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956AAF4-7D91-1948-6003-A075B816337C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2: </a:t>
            </a:r>
            <a:r>
              <a:rPr lang="en-US" sz="1400" dirty="0">
                <a:latin typeface="Menlo"/>
              </a:rPr>
              <a:t>Display key statistics of cycle times for finished operations.</a:t>
            </a:r>
            <a:endParaRPr lang="en-US" sz="1400" noProof="0" dirty="0">
              <a:latin typeface="Menlo"/>
            </a:endParaRPr>
          </a:p>
        </p:txBody>
      </p:sp>
      <p:pic>
        <p:nvPicPr>
          <p:cNvPr id="6" name="Grafik 5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CB654802-8970-5E88-5759-22514166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42175"/>
            <a:ext cx="5908655" cy="1989052"/>
          </a:xfrm>
          <a:prstGeom prst="rect">
            <a:avLst/>
          </a:prstGeom>
        </p:spPr>
      </p:pic>
      <p:pic>
        <p:nvPicPr>
          <p:cNvPr id="11" name="Grafik 10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A4345967-3FC9-7C59-EF2F-90CC836A3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729125"/>
            <a:ext cx="5809956" cy="196631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2BF4375-E941-E3BA-6AEB-F0B36AB04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31101"/>
            <a:ext cx="4886632" cy="2009725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F5D1D913-A21C-30CD-91C9-CAC31B31B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200337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B74DE4D5-57DF-AC89-686C-D11D48CE4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425CE82F-0CE2-9E76-02B1-BCCE48037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876541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728CF1A5-E484-DF1D-F52A-80CBFCB24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547382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396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11A97-A233-8D3C-DFA8-4CA1C30D8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7ED217E9-D3B7-B45D-433F-1D7499568AB6}"/>
              </a:ext>
            </a:extLst>
          </p:cNvPr>
          <p:cNvSpPr txBox="1"/>
          <p:nvPr/>
        </p:nvSpPr>
        <p:spPr>
          <a:xfrm>
            <a:off x="5812301" y="403122"/>
            <a:ext cx="3188676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900" b="1" dirty="0">
                <a:latin typeface="Menlo"/>
              </a:rPr>
              <a:t>Family/type: </a:t>
            </a:r>
            <a:r>
              <a:rPr lang="en-US" sz="900" dirty="0">
                <a:latin typeface="Menlo"/>
              </a:rPr>
              <a:t>descriptive, group compare</a:t>
            </a:r>
          </a:p>
          <a:p>
            <a:pPr latinLnBrk="1"/>
            <a:r>
              <a:rPr lang="en-US" sz="900" b="1" dirty="0">
                <a:latin typeface="Menlo"/>
              </a:rPr>
              <a:t>Filters: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== Fräsen Gruppe Kleinteile</a:t>
            </a:r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Columns: </a:t>
            </a:r>
            <a:r>
              <a:rPr lang="en-US" sz="900" dirty="0" err="1">
                <a:latin typeface="Menlo"/>
              </a:rPr>
              <a:t>avg_type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ist_dlz</a:t>
            </a:r>
            <a:endParaRPr lang="en-US" sz="900" b="1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Prepare: </a:t>
            </a:r>
            <a:r>
              <a:rPr lang="en-US" sz="900" dirty="0">
                <a:latin typeface="Menlo"/>
              </a:rPr>
              <a:t>Clean up text (trim spaces); Convert to numbers (</a:t>
            </a:r>
            <a:r>
              <a:rPr lang="en-US" sz="900" dirty="0" err="1">
                <a:latin typeface="Menlo"/>
              </a:rPr>
              <a:t>ist_dlz</a:t>
            </a:r>
            <a:r>
              <a:rPr lang="en-US" sz="900" dirty="0">
                <a:latin typeface="Menlo"/>
              </a:rPr>
              <a:t>); Remove rows with missing required values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ist_dlz</a:t>
            </a:r>
            <a:r>
              <a:rPr lang="en-US" sz="900" dirty="0">
                <a:latin typeface="Menlo"/>
              </a:rPr>
              <a:t>)</a:t>
            </a:r>
          </a:p>
          <a:p>
            <a:pPr latinLnBrk="1"/>
            <a:r>
              <a:rPr lang="en-US" sz="900" b="1" dirty="0">
                <a:latin typeface="Menlo"/>
              </a:rPr>
              <a:t>Aggregate: </a:t>
            </a:r>
            <a:r>
              <a:rPr lang="en-US" sz="900" dirty="0" err="1">
                <a:latin typeface="Menlo"/>
              </a:rPr>
              <a:t>groupby</a:t>
            </a:r>
            <a:r>
              <a:rPr lang="en-US" sz="900" dirty="0">
                <a:latin typeface="Menlo"/>
              </a:rPr>
              <a:t>=[</a:t>
            </a:r>
            <a:r>
              <a:rPr lang="en-US" sz="900" dirty="0" err="1">
                <a:latin typeface="Menlo"/>
              </a:rPr>
              <a:t>avg_type</a:t>
            </a:r>
            <a:r>
              <a:rPr lang="en-US" sz="900" dirty="0">
                <a:latin typeface="Menlo"/>
              </a:rPr>
              <a:t>];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metrics=[</a:t>
            </a:r>
            <a:r>
              <a:rPr lang="en-US" sz="900" dirty="0" err="1">
                <a:latin typeface="Menlo"/>
              </a:rPr>
              <a:t>max_ist_dlz</a:t>
            </a: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max:ist_dlz</a:t>
            </a:r>
            <a:r>
              <a:rPr lang="en-US" sz="900" dirty="0">
                <a:latin typeface="Menlo"/>
              </a:rPr>
              <a:t>), </a:t>
            </a:r>
            <a:r>
              <a:rPr lang="en-US" sz="900" dirty="0" err="1">
                <a:latin typeface="Menlo"/>
              </a:rPr>
              <a:t>n_records</a:t>
            </a:r>
            <a:r>
              <a:rPr lang="en-US" sz="900" dirty="0">
                <a:latin typeface="Menlo"/>
              </a:rPr>
              <a:t>=count]</a:t>
            </a:r>
          </a:p>
          <a:p>
            <a:pPr latinLnBrk="1"/>
            <a:r>
              <a:rPr lang="en-US" sz="900" b="1" dirty="0">
                <a:latin typeface="Menlo"/>
              </a:rPr>
              <a:t>Verify status: </a:t>
            </a:r>
            <a:r>
              <a:rPr lang="en-US" sz="900" dirty="0">
                <a:latin typeface="Menlo"/>
              </a:rPr>
              <a:t>warn (check summary)</a:t>
            </a:r>
          </a:p>
          <a:p>
            <a:pPr latinLnBrk="1"/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Summary: </a:t>
            </a:r>
            <a:r>
              <a:rPr lang="en-US" sz="900" dirty="0">
                <a:latin typeface="Menlo"/>
              </a:rPr>
              <a:t>Comparing max actual cycle days per operation type shows most operations finish in one day. A few types take up to five days. Consider process improvements for slow operations.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CE41A839-C810-9B9B-E9FF-BF63F1F07C0C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0F2BF7B-B259-05FB-1198-5C2B7B8E5723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E980FD03-EDE8-15B5-E667-1A410C3D3766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02310F0F-04F2-CF77-57AA-500AA0F90499}"/>
              </a:ext>
            </a:extLst>
          </p:cNvPr>
          <p:cNvSpPr txBox="1"/>
          <p:nvPr/>
        </p:nvSpPr>
        <p:spPr>
          <a:xfrm>
            <a:off x="5812301" y="2555512"/>
            <a:ext cx="31886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Family/type</a:t>
            </a:r>
            <a:r>
              <a:rPr lang="de-DE" sz="1000" dirty="0"/>
              <a:t>: </a:t>
            </a:r>
            <a:r>
              <a:rPr lang="de-DE" sz="1000" dirty="0" err="1"/>
              <a:t>descriptive</a:t>
            </a:r>
            <a:r>
              <a:rPr lang="de-DE" sz="1000" dirty="0"/>
              <a:t>, </a:t>
            </a:r>
            <a:r>
              <a:rPr lang="de-DE" sz="1000" dirty="0" err="1"/>
              <a:t>summary</a:t>
            </a:r>
            <a:br>
              <a:rPr lang="de-DE" sz="1000" dirty="0"/>
            </a:br>
            <a:r>
              <a:rPr lang="de-DE" sz="1000" b="1" dirty="0"/>
              <a:t>Filters</a:t>
            </a:r>
            <a:r>
              <a:rPr lang="de-DE" sz="1000" dirty="0"/>
              <a:t>: </a:t>
            </a:r>
            <a:r>
              <a:rPr lang="de-DE" sz="1000" dirty="0" err="1"/>
              <a:t>resource_group</a:t>
            </a:r>
            <a:r>
              <a:rPr lang="de-DE" sz="1000" dirty="0"/>
              <a:t> == Fräsen Gruppe Kleinteile; </a:t>
            </a:r>
            <a:r>
              <a:rPr lang="de-DE" sz="1000" dirty="0" err="1"/>
              <a:t>ist_ende</a:t>
            </a:r>
            <a:r>
              <a:rPr lang="de-DE" sz="1000" dirty="0"/>
              <a:t> not </a:t>
            </a:r>
            <a:r>
              <a:rPr lang="de-DE" sz="1000" dirty="0" err="1"/>
              <a:t>missing</a:t>
            </a:r>
            <a:br>
              <a:rPr lang="de-DE" sz="1000" dirty="0"/>
            </a:br>
            <a:r>
              <a:rPr lang="de-DE" sz="1000" b="1" dirty="0"/>
              <a:t>Columns</a:t>
            </a:r>
            <a:r>
              <a:rPr lang="de-DE" sz="1000" dirty="0"/>
              <a:t>: </a:t>
            </a:r>
            <a:r>
              <a:rPr lang="de-DE" sz="1000" dirty="0" err="1"/>
              <a:t>ist_dlz</a:t>
            </a:r>
            <a:r>
              <a:rPr lang="de-DE" sz="1000" dirty="0"/>
              <a:t>, </a:t>
            </a:r>
            <a:r>
              <a:rPr lang="de-DE" sz="1000" dirty="0" err="1"/>
              <a:t>avg_type</a:t>
            </a:r>
            <a:br>
              <a:rPr lang="de-DE" sz="1000" dirty="0"/>
            </a:br>
            <a:r>
              <a:rPr lang="de-DE" sz="1000" b="1" dirty="0" err="1"/>
              <a:t>Prepare</a:t>
            </a:r>
            <a:r>
              <a:rPr lang="de-DE" sz="1000" dirty="0"/>
              <a:t>: Drop </a:t>
            </a:r>
            <a:r>
              <a:rPr lang="de-DE" sz="1000" dirty="0" err="1"/>
              <a:t>rows</a:t>
            </a:r>
            <a:r>
              <a:rPr lang="de-DE" sz="1000" dirty="0"/>
              <a:t> </a:t>
            </a:r>
            <a:r>
              <a:rPr lang="de-DE" sz="1000" dirty="0" err="1"/>
              <a:t>with</a:t>
            </a:r>
            <a:r>
              <a:rPr lang="de-DE" sz="1000" dirty="0"/>
              <a:t> </a:t>
            </a:r>
            <a:r>
              <a:rPr lang="de-DE" sz="1000" dirty="0" err="1"/>
              <a:t>missing</a:t>
            </a:r>
            <a:r>
              <a:rPr lang="de-DE" sz="1000" dirty="0"/>
              <a:t> </a:t>
            </a:r>
            <a:r>
              <a:rPr lang="de-DE" sz="1000" dirty="0" err="1"/>
              <a:t>ist_dlz</a:t>
            </a:r>
            <a:r>
              <a:rPr lang="de-DE" sz="1000" dirty="0"/>
              <a:t> </a:t>
            </a:r>
            <a:r>
              <a:rPr lang="de-DE" sz="1000" dirty="0" err="1"/>
              <a:t>or</a:t>
            </a:r>
            <a:r>
              <a:rPr lang="de-DE" sz="1000" dirty="0"/>
              <a:t> </a:t>
            </a:r>
            <a:r>
              <a:rPr lang="de-DE" sz="1000" dirty="0" err="1"/>
              <a:t>avg_type</a:t>
            </a:r>
            <a:br>
              <a:rPr lang="de-DE" sz="1000" dirty="0"/>
            </a:br>
            <a:r>
              <a:rPr lang="de-DE" sz="1000" b="1" dirty="0"/>
              <a:t>Aggregate</a:t>
            </a:r>
            <a:r>
              <a:rPr lang="de-DE" sz="1000" dirty="0"/>
              <a:t>: </a:t>
            </a:r>
            <a:r>
              <a:rPr lang="de-DE" sz="1000" dirty="0" err="1"/>
              <a:t>max</a:t>
            </a:r>
            <a:r>
              <a:rPr lang="de-DE" sz="1000" dirty="0"/>
              <a:t>(</a:t>
            </a:r>
            <a:r>
              <a:rPr lang="de-DE" sz="1000" dirty="0" err="1"/>
              <a:t>ist_dlz</a:t>
            </a:r>
            <a:r>
              <a:rPr lang="de-DE" sz="1000" dirty="0"/>
              <a:t>) </a:t>
            </a:r>
            <a:r>
              <a:rPr lang="de-DE" sz="1000" dirty="0" err="1"/>
              <a:t>by</a:t>
            </a:r>
            <a:r>
              <a:rPr lang="de-DE" sz="1000" dirty="0"/>
              <a:t> </a:t>
            </a:r>
            <a:r>
              <a:rPr lang="de-DE" sz="1000" dirty="0" err="1"/>
              <a:t>avg_type</a:t>
            </a:r>
            <a:br>
              <a:rPr lang="de-DE" sz="1000" dirty="0"/>
            </a:br>
            <a:r>
              <a:rPr lang="de-DE" sz="1000" b="1" dirty="0" err="1"/>
              <a:t>Verify</a:t>
            </a:r>
            <a:r>
              <a:rPr lang="de-DE" sz="1000" b="1" dirty="0"/>
              <a:t> </a:t>
            </a:r>
            <a:r>
              <a:rPr lang="de-DE" sz="1000" b="1" dirty="0" err="1"/>
              <a:t>status</a:t>
            </a:r>
            <a:r>
              <a:rPr lang="de-DE" sz="1000" dirty="0"/>
              <a:t>: warn (check </a:t>
            </a:r>
            <a:r>
              <a:rPr lang="de-DE" sz="1000" dirty="0" err="1"/>
              <a:t>summary</a:t>
            </a:r>
            <a:r>
              <a:rPr lang="de-DE" sz="1000" dirty="0"/>
              <a:t>)</a:t>
            </a:r>
          </a:p>
          <a:p>
            <a:br>
              <a:rPr lang="de-DE" sz="1000" b="1" dirty="0"/>
            </a:br>
            <a:r>
              <a:rPr lang="de-DE" sz="1000" b="1" dirty="0"/>
              <a:t>Summary</a:t>
            </a:r>
            <a:r>
              <a:rPr lang="de-DE" sz="1000" dirty="0"/>
              <a:t>: Max </a:t>
            </a:r>
            <a:r>
              <a:rPr lang="de-DE" sz="1000" dirty="0" err="1"/>
              <a:t>lead</a:t>
            </a:r>
            <a:r>
              <a:rPr lang="de-DE" sz="1000" dirty="0"/>
              <a:t> </a:t>
            </a:r>
            <a:r>
              <a:rPr lang="de-DE" sz="1000" dirty="0" err="1"/>
              <a:t>times</a:t>
            </a:r>
            <a:r>
              <a:rPr lang="de-DE" sz="1000" dirty="0"/>
              <a:t> </a:t>
            </a:r>
            <a:r>
              <a:rPr lang="de-DE" sz="1000" dirty="0" err="1"/>
              <a:t>vary</a:t>
            </a:r>
            <a:r>
              <a:rPr lang="de-DE" sz="1000" dirty="0"/>
              <a:t> </a:t>
            </a:r>
            <a:r>
              <a:rPr lang="de-DE" sz="1000" dirty="0" err="1"/>
              <a:t>between</a:t>
            </a:r>
            <a:r>
              <a:rPr lang="de-DE" sz="1000" dirty="0"/>
              <a:t> 1 and 5 </a:t>
            </a:r>
            <a:r>
              <a:rPr lang="de-DE" sz="1000" dirty="0" err="1"/>
              <a:t>days</a:t>
            </a:r>
            <a:r>
              <a:rPr lang="de-DE" sz="1000" dirty="0"/>
              <a:t>, </a:t>
            </a:r>
            <a:r>
              <a:rPr lang="de-DE" sz="1000" dirty="0" err="1"/>
              <a:t>with</a:t>
            </a:r>
            <a:r>
              <a:rPr lang="de-DE" sz="1000" dirty="0"/>
              <a:t> “Gravuren einbringen” </a:t>
            </a:r>
            <a:r>
              <a:rPr lang="de-DE" sz="1000" dirty="0" err="1"/>
              <a:t>highest</a:t>
            </a:r>
            <a:r>
              <a:rPr lang="de-DE" sz="1000" dirty="0"/>
              <a:t> (5 </a:t>
            </a:r>
            <a:r>
              <a:rPr lang="de-DE" sz="1000" dirty="0" err="1"/>
              <a:t>days</a:t>
            </a:r>
            <a:r>
              <a:rPr lang="de-DE" sz="1000" dirty="0"/>
              <a:t>) and </a:t>
            </a:r>
            <a:r>
              <a:rPr lang="de-DE" sz="1000" dirty="0" err="1"/>
              <a:t>most</a:t>
            </a:r>
            <a:r>
              <a:rPr lang="de-DE" sz="1000" dirty="0"/>
              <a:t> </a:t>
            </a:r>
            <a:r>
              <a:rPr lang="de-DE" sz="1000" dirty="0" err="1"/>
              <a:t>other</a:t>
            </a:r>
            <a:r>
              <a:rPr lang="de-DE" sz="1000" dirty="0"/>
              <a:t> </a:t>
            </a:r>
            <a:r>
              <a:rPr lang="de-DE" sz="1000" dirty="0" err="1"/>
              <a:t>operation</a:t>
            </a:r>
            <a:r>
              <a:rPr lang="de-DE" sz="1000" dirty="0"/>
              <a:t> </a:t>
            </a:r>
            <a:r>
              <a:rPr lang="de-DE" sz="1000" dirty="0" err="1"/>
              <a:t>types</a:t>
            </a:r>
            <a:r>
              <a:rPr lang="de-DE" sz="1000" dirty="0"/>
              <a:t> at </a:t>
            </a:r>
            <a:r>
              <a:rPr lang="de-DE" sz="1000" dirty="0" err="1"/>
              <a:t>or</a:t>
            </a:r>
            <a:r>
              <a:rPr lang="de-DE" sz="1000" dirty="0"/>
              <a:t> </a:t>
            </a:r>
            <a:r>
              <a:rPr lang="de-DE" sz="1000" dirty="0" err="1"/>
              <a:t>below</a:t>
            </a:r>
            <a:r>
              <a:rPr lang="de-DE" sz="1000" dirty="0"/>
              <a:t> 2–3 </a:t>
            </a:r>
            <a:r>
              <a:rPr lang="de-DE" sz="1000" dirty="0" err="1"/>
              <a:t>days</a:t>
            </a:r>
            <a:r>
              <a:rPr lang="de-DE" sz="1000" dirty="0"/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78C9CEE-5D62-3150-6CEC-89D37D4790F9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group compare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resource_group</a:t>
            </a:r>
            <a:r>
              <a:rPr lang="de-DE" sz="1000" dirty="0">
                <a:latin typeface="Menlo"/>
              </a:rPr>
              <a:t> == Fräsen Gruppe Kleinteile; </a:t>
            </a:r>
            <a:br>
              <a:rPr lang="de-DE" sz="1000" dirty="0">
                <a:latin typeface="Menlo"/>
              </a:rPr>
            </a:b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 err="1">
                <a:latin typeface="Menlo"/>
              </a:rPr>
              <a:t>groupby</a:t>
            </a:r>
            <a:r>
              <a:rPr lang="en-US" sz="1000" dirty="0">
                <a:latin typeface="Menlo"/>
              </a:rPr>
              <a:t>=[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];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max_lead_time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max:ist_dlz</a:t>
            </a:r>
            <a:r>
              <a:rPr lang="en-US" sz="1000" dirty="0">
                <a:latin typeface="Menlo"/>
              </a:rPr>
              <a:t>), </a:t>
            </a: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Maximum lead times for 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Gruppe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Kleinteile</a:t>
            </a:r>
            <a:r>
              <a:rPr lang="en-US" sz="1000" dirty="0">
                <a:latin typeface="Menlo"/>
              </a:rPr>
              <a:t> operations by type varied significantly.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Most types capped at 1 day, but one peaked at 5 days.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Groups with fewer records may skew max lead times.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F72018-B722-84AC-3F4E-66CABB1B3618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3: </a:t>
            </a:r>
            <a:r>
              <a:rPr lang="en-US" sz="1400" dirty="0">
                <a:latin typeface="Menlo"/>
              </a:rPr>
              <a:t>Compare the max lead times for </a:t>
            </a:r>
            <a:r>
              <a:rPr lang="en-US" sz="1400" dirty="0" err="1">
                <a:latin typeface="Menlo"/>
              </a:rPr>
              <a:t>Fräsen</a:t>
            </a:r>
            <a:r>
              <a:rPr lang="en-US" sz="1400" dirty="0">
                <a:latin typeface="Menlo"/>
              </a:rPr>
              <a:t> Gruppe </a:t>
            </a:r>
            <a:r>
              <a:rPr lang="en-US" sz="1400" dirty="0" err="1">
                <a:latin typeface="Menlo"/>
              </a:rPr>
              <a:t>Kleinteile</a:t>
            </a:r>
            <a:r>
              <a:rPr lang="en-US" sz="1400" dirty="0">
                <a:latin typeface="Menlo"/>
              </a:rPr>
              <a:t> by operation type.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DE5CCE40-D3A9-ECDE-5298-469E8F386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4670"/>
            <a:ext cx="3613673" cy="2052737"/>
          </a:xfrm>
          <a:prstGeom prst="rect">
            <a:avLst/>
          </a:prstGeom>
        </p:spPr>
      </p:pic>
      <p:pic>
        <p:nvPicPr>
          <p:cNvPr id="6" name="Grafik 5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8FF334E5-0B99-9656-CC33-19B159E1E3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77"/>
          <a:stretch>
            <a:fillRect/>
          </a:stretch>
        </p:blipFill>
        <p:spPr>
          <a:xfrm>
            <a:off x="-2" y="4729125"/>
            <a:ext cx="3613675" cy="206737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E62D3D0-CF17-515A-AF69-FF93BDC9D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03198"/>
            <a:ext cx="4870927" cy="2003266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6153505-A8A6-82E1-5022-4850BDA1E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862672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594A516A-7486-355A-8FC9-4E85D47D1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81A7D0E8-0A2C-0162-1C9B-D1B6DF182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449213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EDB2ADEE-9F86-FFF5-4EBB-FFD87F269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474680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311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4E09-4AAA-E285-0497-2A094316E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F864AE4E-EE4F-9FBF-2386-D2BA13F19A7F}"/>
              </a:ext>
            </a:extLst>
          </p:cNvPr>
          <p:cNvSpPr txBox="1"/>
          <p:nvPr/>
        </p:nvSpPr>
        <p:spPr>
          <a:xfrm>
            <a:off x="5812301" y="403122"/>
            <a:ext cx="318867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900" b="1" dirty="0">
                <a:latin typeface="Menlo"/>
              </a:rPr>
              <a:t>Family/type: </a:t>
            </a:r>
            <a:r>
              <a:rPr lang="en-US" sz="900" dirty="0">
                <a:latin typeface="Menlo"/>
              </a:rPr>
              <a:t>descriptive, trend</a:t>
            </a:r>
          </a:p>
          <a:p>
            <a:pPr latinLnBrk="1"/>
            <a:r>
              <a:rPr lang="en-US" sz="900" b="1" dirty="0">
                <a:latin typeface="Menlo"/>
              </a:rPr>
              <a:t>Filters: </a:t>
            </a:r>
            <a:r>
              <a:rPr lang="de-DE" sz="900" dirty="0" err="1">
                <a:latin typeface="Menlo"/>
              </a:rPr>
              <a:t>none</a:t>
            </a:r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Columns: 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ta_abgang</a:t>
            </a:r>
            <a:endParaRPr lang="en-US" sz="900" b="1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Prepare: </a:t>
            </a:r>
            <a:r>
              <a:rPr lang="en-US" sz="900" dirty="0">
                <a:latin typeface="Menlo"/>
              </a:rPr>
              <a:t>Remove rows with missing required values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ta_abgang</a:t>
            </a:r>
            <a:r>
              <a:rPr lang="en-US" sz="900" dirty="0">
                <a:latin typeface="Menlo"/>
              </a:rPr>
              <a:t>)</a:t>
            </a:r>
          </a:p>
          <a:p>
            <a:pPr latinLnBrk="1"/>
            <a:r>
              <a:rPr lang="en-US" sz="900" b="1" dirty="0">
                <a:latin typeface="Menlo"/>
              </a:rPr>
              <a:t>Aggregate: </a:t>
            </a:r>
            <a:r>
              <a:rPr lang="en-US" sz="900" dirty="0">
                <a:latin typeface="Menlo"/>
              </a:rPr>
              <a:t>time=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/week;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metrics=[</a:t>
            </a:r>
            <a:r>
              <a:rPr lang="en-US" sz="900" dirty="0" err="1">
                <a:latin typeface="Menlo"/>
              </a:rPr>
              <a:t>avg_ta_abgang</a:t>
            </a: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mean:ta_abgang</a:t>
            </a:r>
            <a:r>
              <a:rPr lang="en-US" sz="900" dirty="0">
                <a:latin typeface="Menlo"/>
              </a:rPr>
              <a:t>), </a:t>
            </a:r>
            <a:br>
              <a:rPr lang="en-US" sz="900" dirty="0">
                <a:latin typeface="Menlo"/>
              </a:rPr>
            </a:br>
            <a:r>
              <a:rPr lang="en-US" sz="900" dirty="0" err="1">
                <a:latin typeface="Menlo"/>
              </a:rPr>
              <a:t>n_records</a:t>
            </a:r>
            <a:r>
              <a:rPr lang="en-US" sz="900" dirty="0">
                <a:latin typeface="Menlo"/>
              </a:rPr>
              <a:t>=count]</a:t>
            </a:r>
          </a:p>
          <a:p>
            <a:pPr latinLnBrk="1"/>
            <a:r>
              <a:rPr lang="en-US" sz="900" b="1" dirty="0">
                <a:latin typeface="Menlo"/>
              </a:rPr>
              <a:t>Verify status: </a:t>
            </a:r>
            <a:r>
              <a:rPr lang="en-US" sz="900" dirty="0">
                <a:latin typeface="Menlo"/>
              </a:rPr>
              <a:t>warn (check summary)</a:t>
            </a:r>
          </a:p>
          <a:p>
            <a:pPr latinLnBrk="1"/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Summary: </a:t>
            </a:r>
            <a:r>
              <a:rPr lang="en-US" sz="900" dirty="0">
                <a:latin typeface="Menlo"/>
              </a:rPr>
              <a:t>Operations ended on average about 42 days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early, improving from 590 days early in August 2023 to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near on time by April 2025. Typical weekly range: 112 to 3 days early. Most extreme weeks: 613 days early, 3 days late. Review weeks with large early deviations.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D8353C5-90E6-E661-B9C2-AF4DDE8F2596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4A0A0ED-9FB4-397E-02AF-95C7D852B5A0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22D5C47-64CA-A42D-D4D8-79C527365969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43721B1E-F9C2-AC4E-3CF5-652A5B202817}"/>
              </a:ext>
            </a:extLst>
          </p:cNvPr>
          <p:cNvSpPr txBox="1"/>
          <p:nvPr/>
        </p:nvSpPr>
        <p:spPr>
          <a:xfrm>
            <a:off x="5812301" y="255551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Menlo"/>
              </a:rPr>
              <a:t>Family/type</a:t>
            </a:r>
            <a:r>
              <a:rPr lang="en-US" sz="1000" dirty="0">
                <a:latin typeface="Menlo"/>
              </a:rPr>
              <a:t>: descriptive, trend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Filters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&gt;= 2025-01-01;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&lt; 2026-01-01;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 not missing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Columns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ist_ende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</a:t>
            </a:r>
            <a:r>
              <a:rPr lang="en-US" sz="1000" dirty="0">
                <a:latin typeface="Menlo"/>
              </a:rPr>
              <a:t>: Derive week from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; drop missing values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Aggregate</a:t>
            </a:r>
            <a:r>
              <a:rPr lang="en-US" sz="1000" dirty="0">
                <a:latin typeface="Menlo"/>
              </a:rPr>
              <a:t>: mean(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 by week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Verify status</a:t>
            </a:r>
            <a:r>
              <a:rPr lang="en-US" sz="1000" dirty="0">
                <a:latin typeface="Menlo"/>
              </a:rPr>
              <a:t>: warn (check summary)</a:t>
            </a:r>
          </a:p>
          <a:p>
            <a:endParaRPr lang="en-US" sz="1000" b="1" dirty="0">
              <a:latin typeface="Menlo"/>
            </a:endParaRPr>
          </a:p>
          <a:p>
            <a:r>
              <a:rPr lang="en-US" sz="1000" b="1" dirty="0">
                <a:latin typeface="Menlo"/>
              </a:rPr>
              <a:t>Summary</a:t>
            </a:r>
            <a:r>
              <a:rPr lang="en-US" sz="1000" dirty="0">
                <a:latin typeface="Menlo"/>
              </a:rPr>
              <a:t>: Weekly end deviations in 2025 start clearly early (around −10 to −5 days), then gradually improve and approach on-time completion, with recent weeks even slightly late (up to about +1 day).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D17F0EB-1FE0-2590-C7B9-5271CF766EC5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trend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avg_ta_abgang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mean:ta_abgang</a:t>
            </a:r>
            <a:r>
              <a:rPr lang="en-US" sz="1000" dirty="0">
                <a:latin typeface="Menlo"/>
              </a:rPr>
              <a:t>),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Computed monthly average </a:t>
            </a:r>
            <a:r>
              <a:rPr lang="en-US" sz="1000" dirty="0" err="1">
                <a:latin typeface="Menlo"/>
              </a:rPr>
              <a:t>avg_ta_abgang</a:t>
            </a:r>
            <a:r>
              <a:rPr lang="en-US" sz="1000" dirty="0">
                <a:latin typeface="Menlo"/>
              </a:rPr>
              <a:t> by group (2023-08-07T00:00:00 → 2025-04-14T00:00:00,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65 points; mean≈-42.10; Δend-start≈590.77).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C5A7811-424D-918F-7340-D604922F3954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4: </a:t>
            </a:r>
            <a:r>
              <a:rPr lang="en-US" sz="1400" noProof="0" dirty="0">
                <a:latin typeface="Menlo"/>
              </a:rPr>
              <a:t>Show me the trend for weekly end schedule deviations of operations in 2025.</a:t>
            </a:r>
          </a:p>
        </p:txBody>
      </p:sp>
      <p:pic>
        <p:nvPicPr>
          <p:cNvPr id="6" name="Grafik 5" descr="Ein Bild, das Diagramm, Reih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E589EC42-DAE4-07F7-58AE-A2A2E55C0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463635"/>
            <a:ext cx="4601497" cy="2031364"/>
          </a:xfrm>
          <a:prstGeom prst="rect">
            <a:avLst/>
          </a:prstGeom>
        </p:spPr>
      </p:pic>
      <p:pic>
        <p:nvPicPr>
          <p:cNvPr id="11" name="Grafik 10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F9AE68E3-4C4F-63F1-4B68-FA3111DA0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4724867"/>
            <a:ext cx="4601496" cy="210852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0665878-78D7-A4A0-80F3-B41EB400F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1" y="2633460"/>
            <a:ext cx="4699820" cy="1945027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C6663F1C-71D0-0E34-0799-05021A285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565844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02D589F7-5F46-1DC0-86E4-CC2C03803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1966174-E32B-594D-F79C-EAD6CDAE7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032818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DB44AC09-6286-CDFA-27BD-FEF7FF177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98866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923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D145-AC90-CB23-940F-874A556B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61D69A95-3D24-C267-D71C-41C5DCFF4502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relationships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End and start delays track almost one-to-one, while cycle and lead-time deviations are less linked.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Operations finish on average 8 days early, ranging from 50 days early to 19 days late. Lead-time deviation median −1 day (range −6 to +1). Examine causes of large early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finishes.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000C4B6-331E-2A95-A864-95EB126E09DA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76377F07-B905-A8F5-24FE-7CFDEAD83EBE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1B6C198-2AEB-FF67-E138-EE3A92A0BB74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B7662E2C-7DF4-5E58-35AF-A12C70F57DA4}"/>
              </a:ext>
            </a:extLst>
          </p:cNvPr>
          <p:cNvSpPr txBox="1"/>
          <p:nvPr/>
        </p:nvSpPr>
        <p:spPr>
          <a:xfrm>
            <a:off x="5812301" y="2555512"/>
            <a:ext cx="31886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correlation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ist_ende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plan_arbeit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ist_arbeit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ist_plan_arbeit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ta_rel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selected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numeric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columns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Pearson </a:t>
            </a:r>
            <a:r>
              <a:rPr lang="de-DE" sz="900" dirty="0" err="1">
                <a:latin typeface="Menlo"/>
              </a:rPr>
              <a:t>correlation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matrix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(check </a:t>
            </a:r>
            <a:r>
              <a:rPr lang="de-DE" sz="900" dirty="0" err="1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)</a:t>
            </a:r>
          </a:p>
          <a:p>
            <a:br>
              <a:rPr lang="de-DE" sz="900" b="1" dirty="0">
                <a:latin typeface="Menlo"/>
              </a:rPr>
            </a:br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Planned and </a:t>
            </a:r>
            <a:r>
              <a:rPr lang="de-DE" sz="900" dirty="0" err="1">
                <a:latin typeface="Menlo"/>
              </a:rPr>
              <a:t>actual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work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correlate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strongly</a:t>
            </a:r>
            <a:r>
              <a:rPr lang="de-DE" sz="900" dirty="0">
                <a:latin typeface="Menlo"/>
              </a:rPr>
              <a:t> (</a:t>
            </a:r>
            <a:r>
              <a:rPr lang="el-GR" sz="900" dirty="0">
                <a:latin typeface="Menlo"/>
              </a:rPr>
              <a:t>ρ ≈ 0.86), </a:t>
            </a:r>
            <a:r>
              <a:rPr lang="de-DE" sz="900" dirty="0" err="1">
                <a:latin typeface="Menlo"/>
              </a:rPr>
              <a:t>actual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work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cycle</a:t>
            </a:r>
            <a:r>
              <a:rPr lang="de-DE" sz="900" dirty="0">
                <a:latin typeface="Menlo"/>
              </a:rPr>
              <a:t> time </a:t>
            </a:r>
            <a:r>
              <a:rPr lang="de-DE" sz="900" dirty="0" err="1">
                <a:latin typeface="Menlo"/>
              </a:rPr>
              <a:t>even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stronger</a:t>
            </a:r>
            <a:r>
              <a:rPr lang="de-DE" sz="900" dirty="0">
                <a:latin typeface="Menlo"/>
              </a:rPr>
              <a:t> (≈ 0.81), and </a:t>
            </a:r>
            <a:r>
              <a:rPr lang="de-DE" sz="900" dirty="0" err="1">
                <a:latin typeface="Menlo"/>
              </a:rPr>
              <a:t>start</a:t>
            </a:r>
            <a:r>
              <a:rPr lang="de-DE" sz="900" dirty="0">
                <a:latin typeface="Menlo"/>
              </a:rPr>
              <a:t>/end </a:t>
            </a:r>
            <a:r>
              <a:rPr lang="de-DE" sz="900" dirty="0" err="1">
                <a:latin typeface="Menlo"/>
              </a:rPr>
              <a:t>deviations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almost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perfectly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aligned</a:t>
            </a:r>
            <a:r>
              <a:rPr lang="de-DE" sz="900" dirty="0">
                <a:latin typeface="Menlo"/>
              </a:rPr>
              <a:t> (≈ 0.99), </a:t>
            </a:r>
            <a:r>
              <a:rPr lang="de-DE" sz="900" dirty="0" err="1">
                <a:latin typeface="Menlo"/>
              </a:rPr>
              <a:t>while</a:t>
            </a:r>
            <a:r>
              <a:rPr lang="de-DE" sz="900" dirty="0">
                <a:latin typeface="Menlo"/>
              </a:rPr>
              <a:t> relative </a:t>
            </a:r>
            <a:r>
              <a:rPr lang="de-DE" sz="900" dirty="0" err="1">
                <a:latin typeface="Menlo"/>
              </a:rPr>
              <a:t>deviation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ta_rel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is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only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weakly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linked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other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measures</a:t>
            </a:r>
            <a:r>
              <a:rPr lang="de-DE" sz="900" dirty="0">
                <a:latin typeface="Menlo"/>
              </a:rPr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1630495-E674-91A1-08FD-BCAD3E82955B}"/>
              </a:ext>
            </a:extLst>
          </p:cNvPr>
          <p:cNvSpPr txBox="1"/>
          <p:nvPr/>
        </p:nvSpPr>
        <p:spPr>
          <a:xfrm>
            <a:off x="5812301" y="4679936"/>
            <a:ext cx="318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relationships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Show me how the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numerical values in the data are related to each other,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finished operations only.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E978AD4-6160-9593-33F7-5BA23E1572D8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</a:t>
            </a:r>
            <a:r>
              <a:rPr lang="de-DE" sz="1400" b="1" dirty="0">
                <a:latin typeface="Menlo"/>
              </a:rPr>
              <a:t>5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noProof="0" dirty="0">
                <a:latin typeface="Menlo"/>
              </a:rPr>
              <a:t>Show me how the numerical values in the data are related to each other, finished operations only.</a:t>
            </a:r>
          </a:p>
        </p:txBody>
      </p:sp>
      <p:pic>
        <p:nvPicPr>
          <p:cNvPr id="3" name="Grafik 2" descr="Ein Bild, das Screenshot, Quadrat, Rechteck, Reihe enthält.&#10;&#10;KI-generierte Inhalte können fehlerhaft sein.">
            <a:extLst>
              <a:ext uri="{FF2B5EF4-FFF2-40B4-BE49-F238E27FC236}">
                <a16:creationId xmlns:a16="http://schemas.microsoft.com/office/drawing/2014/main" id="{1779B30D-3299-8528-0F2B-E46B95F5D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69661"/>
            <a:ext cx="3854245" cy="1923894"/>
          </a:xfrm>
          <a:prstGeom prst="rect">
            <a:avLst/>
          </a:prstGeom>
        </p:spPr>
      </p:pic>
      <p:pic>
        <p:nvPicPr>
          <p:cNvPr id="6" name="Grafik 5" descr="Ein Bild, das Screenshot, Quadrat, Rechteck, Reihe enthält.&#10;&#10;KI-generierte Inhalte können fehlerhaft sein.">
            <a:extLst>
              <a:ext uri="{FF2B5EF4-FFF2-40B4-BE49-F238E27FC236}">
                <a16:creationId xmlns:a16="http://schemas.microsoft.com/office/drawing/2014/main" id="{0888D626-FE0D-E2A7-C65B-B548DBB34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0989"/>
            <a:ext cx="3854245" cy="191581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39EE3B1-B8AE-20BF-35AE-9689DC2E19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4" y="2634620"/>
            <a:ext cx="2650562" cy="2045316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51313AB2-5A92-1546-14D0-76815A390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156444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CDDCB4B5-A8EC-41FB-1D7F-551CEC15F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B006A34C-BAFC-9641-1BA6-5C3376972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207208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5FA98F02-394D-827A-D5D3-CB167E537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508438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360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2BBB8-419D-1404-3071-7EF42BCA9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136E991A-B755-CF49-4520-39F5435A2192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diagnostic, driver relationships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resource_group</a:t>
            </a:r>
            <a:r>
              <a:rPr lang="de-DE" sz="1000" dirty="0">
                <a:latin typeface="Menlo"/>
              </a:rPr>
              <a:t> == Montage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ta_status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(trim spaces); Fill missing numbers (typical value)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Assembly cycle time averages 1.1 days and typically falls between 0–2 days. Start and end timing deviations showed minimal effect on this cycle time. Remove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duplicates and reanalyze deviations effect.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4BD2EE1-9C27-0F59-A0FC-3979043A550F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E6521E1-04C0-F0F3-8E5B-40D1F2E79723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0B14F87D-9295-7199-2019-0E8A1E95A775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8F560D22-94BF-E9F3-9B5C-4475E3C4957C}"/>
              </a:ext>
            </a:extLst>
          </p:cNvPr>
          <p:cNvSpPr txBox="1"/>
          <p:nvPr/>
        </p:nvSpPr>
        <p:spPr>
          <a:xfrm>
            <a:off x="5812301" y="2555512"/>
            <a:ext cx="3188676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correlation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== Montage;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plan_arbeit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ist_arbeit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ist_plan_arbeit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ta_rel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selected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numeric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columns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Pearson </a:t>
            </a:r>
            <a:r>
              <a:rPr lang="de-DE" sz="900" dirty="0" err="1">
                <a:latin typeface="Menlo"/>
              </a:rPr>
              <a:t>corr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, ·)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(check </a:t>
            </a:r>
            <a:r>
              <a:rPr lang="de-DE" sz="900" dirty="0" err="1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)</a:t>
            </a:r>
          </a:p>
          <a:p>
            <a:endParaRPr lang="de-DE" sz="900" b="1" dirty="0">
              <a:latin typeface="Menlo"/>
            </a:endParaRPr>
          </a:p>
          <a:p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Assembly </a:t>
            </a:r>
            <a:r>
              <a:rPr lang="de-DE" sz="900" dirty="0" err="1">
                <a:latin typeface="Menlo"/>
              </a:rPr>
              <a:t>lead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times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mainly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driven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actual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work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ist_arbeit</a:t>
            </a:r>
            <a:r>
              <a:rPr lang="de-DE" sz="900" dirty="0">
                <a:latin typeface="Menlo"/>
              </a:rPr>
              <a:t> (</a:t>
            </a:r>
            <a:r>
              <a:rPr lang="el-GR" sz="900" dirty="0">
                <a:latin typeface="Menlo"/>
              </a:rPr>
              <a:t>ρ ≈ 0.91) </a:t>
            </a:r>
            <a:r>
              <a:rPr lang="de-DE" sz="900" dirty="0">
                <a:latin typeface="Menlo"/>
              </a:rPr>
              <a:t>and planned </a:t>
            </a:r>
            <a:r>
              <a:rPr lang="de-DE" sz="900" dirty="0" err="1">
                <a:latin typeface="Menlo"/>
              </a:rPr>
              <a:t>work</a:t>
            </a:r>
            <a:r>
              <a:rPr lang="de-DE" sz="900" dirty="0">
                <a:latin typeface="Menlo"/>
              </a:rPr>
              <a:t>/relative </a:t>
            </a:r>
            <a:r>
              <a:rPr lang="de-DE" sz="900" dirty="0" err="1">
                <a:latin typeface="Menlo"/>
              </a:rPr>
              <a:t>deviation</a:t>
            </a:r>
            <a:r>
              <a:rPr lang="de-DE" sz="900" dirty="0">
                <a:latin typeface="Menlo"/>
              </a:rPr>
              <a:t> (</a:t>
            </a:r>
            <a:r>
              <a:rPr lang="de-DE" sz="900" dirty="0" err="1">
                <a:latin typeface="Menlo"/>
              </a:rPr>
              <a:t>ist_plan_arbeit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ta_rel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plan_arbeit</a:t>
            </a:r>
            <a:r>
              <a:rPr lang="de-DE" sz="900" dirty="0">
                <a:latin typeface="Menlo"/>
              </a:rPr>
              <a:t>, </a:t>
            </a:r>
            <a:r>
              <a:rPr lang="el-GR" sz="900" dirty="0">
                <a:latin typeface="Menlo"/>
              </a:rPr>
              <a:t>ρ ≈ 0.44–0.72), </a:t>
            </a:r>
            <a:r>
              <a:rPr lang="de-DE" sz="900" dirty="0" err="1">
                <a:latin typeface="Menlo"/>
              </a:rPr>
              <a:t>while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start</a:t>
            </a:r>
            <a:r>
              <a:rPr lang="de-DE" sz="900" dirty="0">
                <a:latin typeface="Menlo"/>
              </a:rPr>
              <a:t>/end </a:t>
            </a:r>
            <a:r>
              <a:rPr lang="de-DE" sz="900" dirty="0" err="1">
                <a:latin typeface="Menlo"/>
              </a:rPr>
              <a:t>schedule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deviations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have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only</a:t>
            </a:r>
            <a:r>
              <a:rPr lang="de-DE" sz="900" dirty="0">
                <a:latin typeface="Menlo"/>
              </a:rPr>
              <a:t> minor </a:t>
            </a:r>
            <a:r>
              <a:rPr lang="de-DE" sz="900" dirty="0" err="1">
                <a:latin typeface="Menlo"/>
              </a:rPr>
              <a:t>impact</a:t>
            </a:r>
            <a:r>
              <a:rPr lang="de-DE" sz="900" dirty="0">
                <a:latin typeface="Menlo"/>
              </a:rPr>
              <a:t>. </a:t>
            </a:r>
          </a:p>
          <a:p>
            <a:pPr latinLnBrk="1"/>
            <a:endParaRPr lang="en-US" sz="900" dirty="0">
              <a:latin typeface="Menlo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B13400F-AD29-D2F3-71D9-ACC3E0DBE7EC}"/>
              </a:ext>
            </a:extLst>
          </p:cNvPr>
          <p:cNvSpPr txBox="1"/>
          <p:nvPr/>
        </p:nvSpPr>
        <p:spPr>
          <a:xfrm>
            <a:off x="5812301" y="4679936"/>
            <a:ext cx="318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diagnostic, driver relationships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plan_start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plan_ende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Which drivers affected lead times for assembly operations?.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984A104-9BDD-5094-C327-C39D7DFC456B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</a:t>
            </a:r>
            <a:r>
              <a:rPr lang="de-DE" sz="1400" b="1" dirty="0">
                <a:latin typeface="Menlo"/>
              </a:rPr>
              <a:t>6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dirty="0">
                <a:latin typeface="Menlo"/>
              </a:rPr>
              <a:t>Which drivers affected lead times for assembly operations?</a:t>
            </a:r>
            <a:endParaRPr lang="en-US" sz="1400" noProof="0" dirty="0">
              <a:latin typeface="Menlo"/>
            </a:endParaRPr>
          </a:p>
        </p:txBody>
      </p:sp>
      <p:pic>
        <p:nvPicPr>
          <p:cNvPr id="6" name="Grafik 5" descr="Ein Bild, das Text, Screenshot, Diagramm, Rechteck enthält.&#10;&#10;KI-generierte Inhalte können fehlerhaft sein.">
            <a:extLst>
              <a:ext uri="{FF2B5EF4-FFF2-40B4-BE49-F238E27FC236}">
                <a16:creationId xmlns:a16="http://schemas.microsoft.com/office/drawing/2014/main" id="{672580AE-946D-67B5-A7FF-2D7CF38AD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89132"/>
            <a:ext cx="5053782" cy="1983765"/>
          </a:xfrm>
          <a:prstGeom prst="rect">
            <a:avLst/>
          </a:prstGeom>
        </p:spPr>
      </p:pic>
      <p:pic>
        <p:nvPicPr>
          <p:cNvPr id="11" name="Grafik 10" descr="Ein Bild, das Text, Schrift, Reihe, Zahl enthält.&#10;&#10;KI-generierte Inhalte können fehlerhaft sein.">
            <a:extLst>
              <a:ext uri="{FF2B5EF4-FFF2-40B4-BE49-F238E27FC236}">
                <a16:creationId xmlns:a16="http://schemas.microsoft.com/office/drawing/2014/main" id="{EFCF1805-29D3-98CA-2A21-2F4E37E94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5397"/>
            <a:ext cx="5053781" cy="190903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8AC2F51-CC69-61B7-2472-6822AED25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73267"/>
            <a:ext cx="4817039" cy="1985155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84D22139-9F44-D5A5-89A8-31F918F57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563615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94005401-93AB-9DD9-8321-028EF8C25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6BE387E3-9BA7-D089-C26A-5063CB01F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801780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E4CDA8B3-2819-C66A-5A2E-787A62862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23374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391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504D4-B5AB-3E52-45EE-A72D0B263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58AC0365-58D8-71CD-35B5-D2BFA805CFB2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forecasting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Convert to dates/times (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max_start_deviation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max:ta_zugang</a:t>
            </a:r>
            <a:r>
              <a:rPr lang="en-US" sz="1000" dirty="0">
                <a:latin typeface="Menlo"/>
              </a:rPr>
              <a:t>),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The forecasted weekly maximum start delay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averages around 54 days. Most weeks fall between –106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and 199 days delay, with extremes from –614 to 218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days. Plan capacity around 54 days of delay.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63B3AA1-E826-6019-0722-080874EA3C28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43B7D25-F3D3-79F8-6400-62CADA7079FE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1CE0140-0FCC-D57C-0E64-FDDF918EAFA5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C278D522-B86A-3213-5EFB-11F54AE61692}"/>
              </a:ext>
            </a:extLst>
          </p:cNvPr>
          <p:cNvSpPr txBox="1"/>
          <p:nvPr/>
        </p:nvSpPr>
        <p:spPr>
          <a:xfrm>
            <a:off x="5812301" y="255551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Menlo"/>
              </a:rPr>
              <a:t>Family/type</a:t>
            </a:r>
            <a:r>
              <a:rPr lang="en-US" sz="1000" dirty="0">
                <a:latin typeface="Menlo"/>
              </a:rPr>
              <a:t>: predictive, time series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Filters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 not missing;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 not missing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Columns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ist_start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</a:t>
            </a:r>
            <a:r>
              <a:rPr lang="en-US" sz="1000" dirty="0">
                <a:latin typeface="Menlo"/>
              </a:rPr>
              <a:t>: Derive week from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; aggregate to weekly max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Aggregate</a:t>
            </a:r>
            <a:r>
              <a:rPr lang="en-US" sz="1000" dirty="0">
                <a:latin typeface="Menlo"/>
              </a:rPr>
              <a:t>: max(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) by week; linear trend forecast next 6 weeks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Verify status</a:t>
            </a:r>
            <a:r>
              <a:rPr lang="en-US" sz="1000" dirty="0">
                <a:latin typeface="Menlo"/>
              </a:rPr>
              <a:t>: warn (simple linear forecast, no intervals)</a:t>
            </a:r>
          </a:p>
          <a:p>
            <a:endParaRPr lang="en-US" sz="1000" dirty="0">
              <a:latin typeface="Menlo"/>
            </a:endParaRPr>
          </a:p>
          <a:p>
            <a:r>
              <a:rPr lang="en-US" sz="1000" b="1" dirty="0">
                <a:latin typeface="Menlo"/>
              </a:rPr>
              <a:t>Summary</a:t>
            </a:r>
            <a:r>
              <a:rPr lang="en-US" sz="1000" dirty="0">
                <a:latin typeface="Menlo"/>
              </a:rPr>
              <a:t>: The model projects weekly maximum start deviation to rise from about +230 to roughly +255 days late over the next 6 weeks, continuing the strong upward trend in extreme late starts.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31BDA19-7827-0612-7D78-4D048DB1196B}"/>
              </a:ext>
            </a:extLst>
          </p:cNvPr>
          <p:cNvSpPr txBox="1"/>
          <p:nvPr/>
        </p:nvSpPr>
        <p:spPr>
          <a:xfrm>
            <a:off x="5812301" y="4679936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forecasting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max_start_deviation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max:ta_zugang</a:t>
            </a:r>
            <a:r>
              <a:rPr lang="en-US" sz="1000" dirty="0">
                <a:latin typeface="Menlo"/>
              </a:rPr>
              <a:t>),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Show me how the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maximum start deviation will change for the next 6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weeks.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31010C7-67BF-53E7-8A11-57E84453D987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</a:t>
            </a:r>
            <a:r>
              <a:rPr lang="de-DE" sz="1400" b="1" dirty="0">
                <a:latin typeface="Menlo"/>
              </a:rPr>
              <a:t>7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dirty="0">
                <a:latin typeface="Menlo"/>
              </a:rPr>
              <a:t>Show me how the maximum start deviation will change for the next 6 weeks.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B082BE49-818B-4C4A-2F99-2DCC1F479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439116"/>
            <a:ext cx="4076389" cy="2086006"/>
          </a:xfrm>
          <a:prstGeom prst="rect">
            <a:avLst/>
          </a:prstGeom>
        </p:spPr>
      </p:pic>
      <p:pic>
        <p:nvPicPr>
          <p:cNvPr id="15" name="Grafik 1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50B888F7-D5AD-2DEB-A036-352E91265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749679"/>
            <a:ext cx="4076387" cy="2046941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894D2739-17A7-8AA9-244C-DA1939909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2746982"/>
            <a:ext cx="4076386" cy="1679923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2386F5A5-226A-DCB4-4D21-F8B27A300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351020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1FF3D9C-BC5E-9F41-0981-9E431BE21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80D2F65C-698C-65D8-C513-33CB58C43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999994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6B59B5F7-B159-DB83-6ED9-C94895FE0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494260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252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3F6BE-9A45-43BF-A5CC-02695206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70ED5A6A-2A74-3B5A-55A1-1DC8A3C1CED5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regression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); Convert to numbers (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 (+1))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A 3-day late start with a 2-day cycle time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predicts about a 1.5-day end delay. Typical end deviation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range: -3 to +4 days. Predicted end delay ~1.4 days late.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Check specific operation types for accuracy.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72AF35F-30D1-18DE-ADF4-DE64071C6400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C2B563E-84C0-F358-9230-DD4B2D6C439A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168900-5462-5BBF-EE2E-BBD95E138C7B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8C2E2353-5A64-0F3B-A2BE-2B6545830806}"/>
              </a:ext>
            </a:extLst>
          </p:cNvPr>
          <p:cNvSpPr txBox="1"/>
          <p:nvPr/>
        </p:nvSpPr>
        <p:spPr>
          <a:xfrm>
            <a:off x="5812301" y="255551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>
                <a:latin typeface="Menlo"/>
              </a:rPr>
              <a:t>Family/type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predictive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regression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Filters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ist_dlz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ta_abgang</a:t>
            </a:r>
            <a:r>
              <a:rPr lang="de-DE" sz="1000" dirty="0">
                <a:latin typeface="Menlo"/>
              </a:rPr>
              <a:t> not </a:t>
            </a:r>
            <a:r>
              <a:rPr lang="de-DE" sz="1000" dirty="0" err="1">
                <a:latin typeface="Menlo"/>
              </a:rPr>
              <a:t>missing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Columns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ta_abgang</a:t>
            </a:r>
            <a:r>
              <a:rPr lang="de-DE" sz="1000" dirty="0">
                <a:latin typeface="Menlo"/>
              </a:rPr>
              <a:t> (</a:t>
            </a:r>
            <a:r>
              <a:rPr lang="de-DE" sz="1000" dirty="0" err="1">
                <a:latin typeface="Menlo"/>
              </a:rPr>
              <a:t>target</a:t>
            </a:r>
            <a:r>
              <a:rPr lang="de-DE" sz="1000" dirty="0">
                <a:latin typeface="Menlo"/>
              </a:rPr>
              <a:t>),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ist_dlz</a:t>
            </a:r>
            <a:br>
              <a:rPr lang="de-DE" sz="1000" dirty="0">
                <a:latin typeface="Menlo"/>
              </a:rPr>
            </a:br>
            <a:r>
              <a:rPr lang="de-DE" sz="1000" b="1" dirty="0" err="1">
                <a:latin typeface="Menlo"/>
              </a:rPr>
              <a:t>Prepare</a:t>
            </a:r>
            <a:r>
              <a:rPr lang="de-DE" sz="1000" dirty="0">
                <a:latin typeface="Menlo"/>
              </a:rPr>
              <a:t>: Drop </a:t>
            </a:r>
            <a:r>
              <a:rPr lang="de-DE" sz="1000" dirty="0" err="1">
                <a:latin typeface="Menlo"/>
              </a:rPr>
              <a:t>rows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with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missing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ist_dlz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ta_abgang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Aggregate</a:t>
            </a:r>
            <a:r>
              <a:rPr lang="de-DE" sz="1000" dirty="0">
                <a:latin typeface="Menlo"/>
              </a:rPr>
              <a:t>: Linear </a:t>
            </a:r>
            <a:r>
              <a:rPr lang="de-DE" sz="1000" dirty="0" err="1">
                <a:latin typeface="Menlo"/>
              </a:rPr>
              <a:t>regression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ta_abgang</a:t>
            </a:r>
            <a:r>
              <a:rPr lang="de-DE" sz="1000" dirty="0">
                <a:latin typeface="Menlo"/>
              </a:rPr>
              <a:t> ~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+ </a:t>
            </a:r>
            <a:r>
              <a:rPr lang="de-DE" sz="1000" dirty="0" err="1">
                <a:latin typeface="Menlo"/>
              </a:rPr>
              <a:t>ist_dlz</a:t>
            </a:r>
            <a:br>
              <a:rPr lang="de-DE" sz="1000" dirty="0">
                <a:latin typeface="Menlo"/>
              </a:rPr>
            </a:br>
            <a:r>
              <a:rPr lang="de-DE" sz="1000" b="1" dirty="0" err="1">
                <a:latin typeface="Menlo"/>
              </a:rPr>
              <a:t>Verify</a:t>
            </a:r>
            <a:r>
              <a:rPr lang="de-DE" sz="1000" b="1" dirty="0">
                <a:latin typeface="Menlo"/>
              </a:rPr>
              <a:t> </a:t>
            </a:r>
            <a:r>
              <a:rPr lang="de-DE" sz="1000" b="1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: warn (simple linear </a:t>
            </a:r>
            <a:r>
              <a:rPr lang="de-DE" sz="1000" dirty="0" err="1">
                <a:latin typeface="Menlo"/>
              </a:rPr>
              <a:t>model</a:t>
            </a:r>
            <a:r>
              <a:rPr lang="de-DE" sz="1000" dirty="0">
                <a:latin typeface="Menlo"/>
              </a:rPr>
              <a:t>, R² ≈ 0.99)</a:t>
            </a:r>
          </a:p>
          <a:p>
            <a:endParaRPr lang="de-DE" sz="1000" dirty="0">
              <a:latin typeface="Menlo"/>
            </a:endParaRPr>
          </a:p>
          <a:p>
            <a:r>
              <a:rPr lang="de-DE" sz="1000" b="1" dirty="0">
                <a:latin typeface="Menlo"/>
              </a:rPr>
              <a:t>Summary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For</a:t>
            </a:r>
            <a:r>
              <a:rPr lang="de-DE" sz="1000" dirty="0">
                <a:latin typeface="Menlo"/>
              </a:rPr>
              <a:t> a </a:t>
            </a:r>
            <a:r>
              <a:rPr lang="de-DE" sz="1000" dirty="0" err="1">
                <a:latin typeface="Menlo"/>
              </a:rPr>
              <a:t>start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deviation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of</a:t>
            </a:r>
            <a:r>
              <a:rPr lang="de-DE" sz="1000" dirty="0">
                <a:latin typeface="Menlo"/>
              </a:rPr>
              <a:t> 3 </a:t>
            </a:r>
            <a:r>
              <a:rPr lang="de-DE" sz="1000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 and </a:t>
            </a:r>
            <a:r>
              <a:rPr lang="de-DE" sz="1000" dirty="0" err="1">
                <a:latin typeface="Menlo"/>
              </a:rPr>
              <a:t>cycle</a:t>
            </a:r>
            <a:r>
              <a:rPr lang="de-DE" sz="1000" dirty="0">
                <a:latin typeface="Menlo"/>
              </a:rPr>
              <a:t> time </a:t>
            </a:r>
            <a:r>
              <a:rPr lang="de-DE" sz="1000" dirty="0" err="1">
                <a:latin typeface="Menlo"/>
              </a:rPr>
              <a:t>of</a:t>
            </a:r>
            <a:r>
              <a:rPr lang="de-DE" sz="1000" dirty="0">
                <a:latin typeface="Menlo"/>
              </a:rPr>
              <a:t> 2 </a:t>
            </a:r>
            <a:r>
              <a:rPr lang="de-DE" sz="1000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the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model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predicts</a:t>
            </a:r>
            <a:r>
              <a:rPr lang="de-DE" sz="1000" dirty="0">
                <a:latin typeface="Menlo"/>
              </a:rPr>
              <a:t> an end-date </a:t>
            </a:r>
            <a:r>
              <a:rPr lang="de-DE" sz="1000" dirty="0" err="1">
                <a:latin typeface="Menlo"/>
              </a:rPr>
              <a:t>deviation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of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about</a:t>
            </a:r>
            <a:r>
              <a:rPr lang="de-DE" sz="1000" dirty="0">
                <a:latin typeface="Menlo"/>
              </a:rPr>
              <a:t> </a:t>
            </a:r>
            <a:r>
              <a:rPr lang="de-DE" sz="1000" b="1" dirty="0">
                <a:latin typeface="Menlo"/>
              </a:rPr>
              <a:t>+1.8 </a:t>
            </a:r>
            <a:r>
              <a:rPr lang="de-DE" sz="1000" b="1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 (</a:t>
            </a:r>
            <a:r>
              <a:rPr lang="de-DE" sz="1000" dirty="0" err="1">
                <a:latin typeface="Menlo"/>
              </a:rPr>
              <a:t>roughly</a:t>
            </a:r>
            <a:r>
              <a:rPr lang="de-DE" sz="1000" dirty="0">
                <a:latin typeface="Menlo"/>
              </a:rPr>
              <a:t> 2 </a:t>
            </a:r>
            <a:r>
              <a:rPr lang="de-DE" sz="1000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late</a:t>
            </a:r>
            <a:r>
              <a:rPr lang="de-DE" sz="1000" dirty="0">
                <a:latin typeface="Menlo"/>
              </a:rPr>
              <a:t>)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6DA522B-1E05-08D0-1CFA-788DECDF54C1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regression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The end deviation is predicted to be 2 days.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This estimate adds the typical lead-time deviation of -1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day to the start deviation of 3 days. Weak link between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cycle time and deviation observed. Historical median lead-time deviation is -1 day. Prediction may not hold for long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cycle times without segmentation.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C9FE36E-2CE7-E7BC-1D4F-26B874568B84}"/>
              </a:ext>
            </a:extLst>
          </p:cNvPr>
          <p:cNvSpPr txBox="1"/>
          <p:nvPr/>
        </p:nvSpPr>
        <p:spPr>
          <a:xfrm>
            <a:off x="0" y="56293"/>
            <a:ext cx="8707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200" b="1" noProof="0" dirty="0">
                <a:latin typeface="Menlo"/>
              </a:rPr>
              <a:t>Prompt </a:t>
            </a:r>
            <a:r>
              <a:rPr lang="de-DE" sz="1200" b="1" dirty="0">
                <a:latin typeface="Menlo"/>
              </a:rPr>
              <a:t>8</a:t>
            </a:r>
            <a:r>
              <a:rPr lang="de-DE" sz="1200" b="1" noProof="0" dirty="0">
                <a:latin typeface="Menlo"/>
              </a:rPr>
              <a:t>: </a:t>
            </a:r>
            <a:r>
              <a:rPr lang="en-US" sz="1200" noProof="0" dirty="0">
                <a:latin typeface="Menlo"/>
              </a:rPr>
              <a:t>If start deviation is 3 days and cycle time is 2 days, what would be a good prediction for the end deviation?</a:t>
            </a:r>
          </a:p>
        </p:txBody>
      </p:sp>
      <p:pic>
        <p:nvPicPr>
          <p:cNvPr id="3" name="Grafik 2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F6426FF3-ADA0-CA69-4A9C-100B59444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72855"/>
            <a:ext cx="4626615" cy="2048828"/>
          </a:xfrm>
          <a:prstGeom prst="rect">
            <a:avLst/>
          </a:prstGeom>
        </p:spPr>
      </p:pic>
      <p:pic>
        <p:nvPicPr>
          <p:cNvPr id="6" name="Grafik 5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FA8E5468-AE91-CA02-8988-88A1C783F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44683"/>
            <a:ext cx="4626614" cy="205115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95CEF15-DBEF-A53E-79D1-0DAEC4828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" y="2624336"/>
            <a:ext cx="4778479" cy="1969264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975ED4A6-17CE-234C-3632-5783F79C5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032866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BD9BF5C2-1D47-A612-1170-7934C5EAF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E79C3148-0831-9C77-249E-034C4E448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403068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EA516D35-C787-054A-D4BF-748FDC89C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234284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763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8ACBC-8B12-3185-AACD-3963C979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FB9F0DF5-6E2C-2978-FB5D-F64AB5E38766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classification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>
                <a:latin typeface="Menlo"/>
              </a:rPr>
              <a:t>status, </a:t>
            </a:r>
            <a:r>
              <a:rPr lang="en-US" sz="1000" dirty="0" err="1">
                <a:latin typeface="Menlo"/>
              </a:rPr>
              <a:t>ta_status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(trim spaces); Convert to numbers (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For a start 10 days early in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DM100', the model predicts no schedule deviation ('</a:t>
            </a:r>
            <a:r>
              <a:rPr lang="en-US" sz="1000" dirty="0" err="1">
                <a:latin typeface="Menlo"/>
              </a:rPr>
              <a:t>ohne</a:t>
            </a:r>
            <a:r>
              <a:rPr lang="en-US" sz="1000" dirty="0">
                <a:latin typeface="Menlo"/>
              </a:rPr>
              <a:t> TA'). Typical deviation ranges from –47 to +20 days. Average start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deviation is –6.25 days. Resource group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DM100' missing in training data.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81ABD0E-A68A-CDA0-716C-E871FB1CB7C4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2F7E956C-2759-A908-70B3-32538F4D03BC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83944494-DDE9-3D7E-9D5D-7AD46F592230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3530632D-B5CC-48A6-98BC-BA23DDF0792D}"/>
              </a:ext>
            </a:extLst>
          </p:cNvPr>
          <p:cNvSpPr txBox="1"/>
          <p:nvPr/>
        </p:nvSpPr>
        <p:spPr>
          <a:xfrm>
            <a:off x="5812301" y="255551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>
                <a:latin typeface="Menlo"/>
              </a:rPr>
              <a:t>Family/type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predictive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classification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Filters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resource_group</a:t>
            </a:r>
            <a:r>
              <a:rPr lang="de-DE" sz="1000" dirty="0">
                <a:latin typeface="Menlo"/>
              </a:rPr>
              <a:t> == Fräsen DM100; </a:t>
            </a:r>
            <a:r>
              <a:rPr lang="de-DE" sz="1000" dirty="0" err="1">
                <a:latin typeface="Menlo"/>
              </a:rPr>
              <a:t>ta_status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not </a:t>
            </a:r>
            <a:r>
              <a:rPr lang="de-DE" sz="1000" dirty="0" err="1">
                <a:latin typeface="Menlo"/>
              </a:rPr>
              <a:t>missing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Columns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ta_status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ta_zugang</a:t>
            </a:r>
            <a:br>
              <a:rPr lang="de-DE" sz="1000" dirty="0">
                <a:latin typeface="Menlo"/>
              </a:rPr>
            </a:br>
            <a:r>
              <a:rPr lang="de-DE" sz="1000" b="1" dirty="0" err="1">
                <a:latin typeface="Menlo"/>
              </a:rPr>
              <a:t>Prepare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Restrict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to</a:t>
            </a:r>
            <a:r>
              <a:rPr lang="de-DE" sz="1000" dirty="0">
                <a:latin typeface="Menlo"/>
              </a:rPr>
              <a:t> Fräsen DM100 and </a:t>
            </a:r>
            <a:r>
              <a:rPr lang="de-DE" sz="1000" dirty="0" err="1">
                <a:latin typeface="Menlo"/>
              </a:rPr>
              <a:t>drop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missing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values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Aggregate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Empirical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class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frequencies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by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bins</a:t>
            </a:r>
            <a:br>
              <a:rPr lang="de-DE" sz="1000" dirty="0">
                <a:latin typeface="Menlo"/>
              </a:rPr>
            </a:br>
            <a:r>
              <a:rPr lang="de-DE" sz="1000" b="1" dirty="0" err="1">
                <a:latin typeface="Menlo"/>
              </a:rPr>
              <a:t>Verify</a:t>
            </a:r>
            <a:r>
              <a:rPr lang="de-DE" sz="1000" b="1" dirty="0">
                <a:latin typeface="Menlo"/>
              </a:rPr>
              <a:t> </a:t>
            </a:r>
            <a:r>
              <a:rPr lang="de-DE" sz="1000" b="1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: warn (</a:t>
            </a:r>
            <a:r>
              <a:rPr lang="de-DE" sz="1000" dirty="0" err="1">
                <a:latin typeface="Menlo"/>
              </a:rPr>
              <a:t>empirical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no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model</a:t>
            </a:r>
            <a:r>
              <a:rPr lang="de-DE" sz="1000" dirty="0">
                <a:latin typeface="Menlo"/>
              </a:rPr>
              <a:t>)</a:t>
            </a:r>
            <a:br>
              <a:rPr lang="de-DE" sz="1000" dirty="0">
                <a:latin typeface="Menlo"/>
              </a:rPr>
            </a:br>
            <a:endParaRPr lang="de-DE" sz="1000" dirty="0">
              <a:latin typeface="Menlo"/>
            </a:endParaRPr>
          </a:p>
          <a:p>
            <a:r>
              <a:rPr lang="de-DE" sz="1000" b="1" dirty="0">
                <a:latin typeface="Menlo"/>
              </a:rPr>
              <a:t>Summary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For</a:t>
            </a:r>
            <a:r>
              <a:rPr lang="de-DE" sz="1000" dirty="0">
                <a:latin typeface="Menlo"/>
              </a:rPr>
              <a:t> Fräsen DM100 </a:t>
            </a:r>
            <a:r>
              <a:rPr lang="de-DE" sz="1000" dirty="0" err="1">
                <a:latin typeface="Menlo"/>
              </a:rPr>
              <a:t>operations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starting</a:t>
            </a:r>
            <a:r>
              <a:rPr lang="de-DE" sz="1000" dirty="0">
                <a:latin typeface="Menlo"/>
              </a:rPr>
              <a:t> ≈10 </a:t>
            </a:r>
            <a:r>
              <a:rPr lang="de-DE" sz="1000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early</a:t>
            </a:r>
            <a:r>
              <a:rPr lang="de-DE" sz="1000" dirty="0">
                <a:latin typeface="Menlo"/>
              </a:rPr>
              <a:t> (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≈ −10), </a:t>
            </a:r>
            <a:r>
              <a:rPr lang="de-DE" sz="1000" dirty="0" err="1">
                <a:latin typeface="Menlo"/>
              </a:rPr>
              <a:t>historical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data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shows</a:t>
            </a:r>
            <a:r>
              <a:rPr lang="de-DE" sz="1000" dirty="0">
                <a:latin typeface="Menlo"/>
              </a:rPr>
              <a:t> </a:t>
            </a:r>
            <a:r>
              <a:rPr lang="de-DE" sz="1000" b="1" dirty="0">
                <a:latin typeface="Menlo"/>
              </a:rPr>
              <a:t>100 %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of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cases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labeled</a:t>
            </a:r>
            <a:r>
              <a:rPr lang="de-DE" sz="1000" dirty="0">
                <a:latin typeface="Menlo"/>
              </a:rPr>
              <a:t> </a:t>
            </a:r>
            <a:r>
              <a:rPr lang="de-DE" sz="1000" b="1" dirty="0" err="1">
                <a:latin typeface="Menlo"/>
              </a:rPr>
              <a:t>ta_status</a:t>
            </a:r>
            <a:r>
              <a:rPr lang="de-DE" sz="1000" b="1" dirty="0">
                <a:latin typeface="Menlo"/>
              </a:rPr>
              <a:t> = "ohne TA"</a:t>
            </a:r>
            <a:r>
              <a:rPr lang="de-DE" sz="1000" dirty="0">
                <a:latin typeface="Menlo"/>
              </a:rPr>
              <a:t>, so </a:t>
            </a:r>
            <a:r>
              <a:rPr lang="de-DE" sz="1000" dirty="0" err="1">
                <a:latin typeface="Menlo"/>
              </a:rPr>
              <a:t>this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is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the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clearly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likely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9C6116AF-857F-DB38-4EE9-411C834996C4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classification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>
                <a:latin typeface="Menlo"/>
              </a:rPr>
              <a:t>status, </a:t>
            </a:r>
            <a:r>
              <a:rPr lang="en-US" sz="1000" dirty="0" err="1">
                <a:latin typeface="Menlo"/>
              </a:rPr>
              <a:t>ta_status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Unable to classify </a:t>
            </a:r>
            <a:r>
              <a:rPr lang="en-US" sz="1000" dirty="0" err="1">
                <a:latin typeface="Menlo"/>
              </a:rPr>
              <a:t>ta_status</a:t>
            </a:r>
            <a:r>
              <a:rPr lang="en-US" sz="1000" dirty="0">
                <a:latin typeface="Menlo"/>
              </a:rPr>
              <a:t> because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DM100' resource group isn't in the data. Operations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typically start 6 days early on average. 68% of operations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finish as planned with no delays. Missing 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group impacts classification.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90EA05E-9237-5747-17D9-4228D6A82998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</a:t>
            </a:r>
            <a:r>
              <a:rPr lang="de-DE" sz="1400" b="1" dirty="0">
                <a:latin typeface="Menlo"/>
              </a:rPr>
              <a:t>9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dirty="0">
                <a:latin typeface="Menlo"/>
              </a:rPr>
              <a:t>Classify the likely </a:t>
            </a:r>
            <a:r>
              <a:rPr lang="en-US" sz="1400" dirty="0" err="1">
                <a:latin typeface="Menlo"/>
              </a:rPr>
              <a:t>ta_status</a:t>
            </a:r>
            <a:r>
              <a:rPr lang="en-US" sz="1400" dirty="0">
                <a:latin typeface="Menlo"/>
              </a:rPr>
              <a:t> if start is 10 days early and resource group ‘</a:t>
            </a:r>
            <a:r>
              <a:rPr lang="en-US" sz="1400" dirty="0" err="1">
                <a:latin typeface="Menlo"/>
              </a:rPr>
              <a:t>Fräsen</a:t>
            </a:r>
            <a:r>
              <a:rPr lang="en-US" sz="1400" dirty="0">
                <a:latin typeface="Menlo"/>
              </a:rPr>
              <a:t> DM100’.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8DE236D0-20DA-05C2-1B11-00E8FE075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1936"/>
            <a:ext cx="4562168" cy="2003326"/>
          </a:xfrm>
          <a:prstGeom prst="rect">
            <a:avLst/>
          </a:prstGeom>
        </p:spPr>
      </p:pic>
      <p:pic>
        <p:nvPicPr>
          <p:cNvPr id="11" name="Grafik 10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626DD0C-73E8-532B-834E-7A1813823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55" y="4792841"/>
            <a:ext cx="4555495" cy="200885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84A237B-3514-6D35-4B76-5A67F88AC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22699"/>
            <a:ext cx="4663650" cy="1921941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5B3957DE-A160-9C5F-5B5A-FF162F65D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01731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6A489B1-A514-9D82-9E0D-76B4C4EB2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3DEDBE3D-67DA-7907-5481-C28F9EFAD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594879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A6F66087-5848-80E7-3325-973A06DCA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57358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757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F83D9-E971-155B-D6D7-9AE9CDFB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97E01048-47F4-0EE6-9DDB-6E9AEEE7C1A9}"/>
              </a:ext>
            </a:extLst>
          </p:cNvPr>
          <p:cNvSpPr txBox="1"/>
          <p:nvPr/>
        </p:nvSpPr>
        <p:spPr>
          <a:xfrm>
            <a:off x="5812301" y="40312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classification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avg_type</a:t>
            </a:r>
            <a:r>
              <a:rPr lang="de-DE" sz="1000" dirty="0">
                <a:latin typeface="Menlo"/>
              </a:rPr>
              <a:t> == Funktionsprüfung;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== -20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>
                <a:latin typeface="Menlo"/>
              </a:rPr>
              <a:t>status,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(trim spaces); Convert to numbers (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When </a:t>
            </a:r>
            <a:r>
              <a:rPr lang="en-US" sz="1000" dirty="0" err="1">
                <a:latin typeface="Menlo"/>
              </a:rPr>
              <a:t>Funktionsprüfung</a:t>
            </a:r>
            <a:r>
              <a:rPr lang="en-US" sz="1000" dirty="0">
                <a:latin typeface="Menlo"/>
              </a:rPr>
              <a:t> started 20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before plan, all operations were marked finished.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11 operations met these criteria. Explore other early start intervals.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8D7047F-E5B8-B75E-A4FF-E4F316693076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DB86D7D0-2AA6-D7EA-C0B1-1ADE86EF9B97}"/>
              </a:ext>
            </a:extLst>
          </p:cNvPr>
          <p:cNvGraphicFramePr>
            <a:graphicFrameLocks noGrp="1"/>
          </p:cNvGraphicFramePr>
          <p:nvPr/>
        </p:nvGraphicFramePr>
        <p:xfrm>
          <a:off x="9003321" y="144781"/>
          <a:ext cx="3188677" cy="21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8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CCBC7E2-5FAE-9BCF-6CD1-F95B260A6A31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ED18B8B-0E37-04D4-4006-EFB5FE223855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39D1163F-63A2-7320-4927-D4FCF61606AF}"/>
              </a:ext>
            </a:extLst>
          </p:cNvPr>
          <p:cNvSpPr txBox="1"/>
          <p:nvPr/>
        </p:nvSpPr>
        <p:spPr>
          <a:xfrm>
            <a:off x="5812301" y="255551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Family/type</a:t>
            </a:r>
            <a:r>
              <a:rPr lang="de-DE" sz="1000" dirty="0"/>
              <a:t>: </a:t>
            </a:r>
            <a:r>
              <a:rPr lang="de-DE" sz="1000" dirty="0" err="1"/>
              <a:t>predictive</a:t>
            </a:r>
            <a:r>
              <a:rPr lang="de-DE" sz="1000" dirty="0"/>
              <a:t>, </a:t>
            </a:r>
            <a:r>
              <a:rPr lang="de-DE" sz="1000" dirty="0" err="1"/>
              <a:t>classification</a:t>
            </a:r>
            <a:br>
              <a:rPr lang="de-DE" sz="1000" dirty="0"/>
            </a:br>
            <a:r>
              <a:rPr lang="de-DE" sz="1000" b="1" dirty="0"/>
              <a:t>Filters</a:t>
            </a:r>
            <a:r>
              <a:rPr lang="de-DE" sz="1000" dirty="0"/>
              <a:t>: </a:t>
            </a:r>
            <a:r>
              <a:rPr lang="de-DE" sz="1000" dirty="0" err="1"/>
              <a:t>avg_type</a:t>
            </a:r>
            <a:r>
              <a:rPr lang="de-DE" sz="1000" dirty="0"/>
              <a:t> == Funktionsprüfung; </a:t>
            </a:r>
            <a:r>
              <a:rPr lang="de-DE" sz="1000" dirty="0" err="1"/>
              <a:t>ta_zugang</a:t>
            </a:r>
            <a:r>
              <a:rPr lang="de-DE" sz="1000" dirty="0"/>
              <a:t> not </a:t>
            </a:r>
            <a:r>
              <a:rPr lang="de-DE" sz="1000" dirty="0" err="1"/>
              <a:t>missing</a:t>
            </a:r>
            <a:r>
              <a:rPr lang="de-DE" sz="1000" dirty="0"/>
              <a:t>; </a:t>
            </a:r>
            <a:r>
              <a:rPr lang="de-DE" sz="1000" dirty="0" err="1"/>
              <a:t>ta_status</a:t>
            </a:r>
            <a:r>
              <a:rPr lang="de-DE" sz="1000" dirty="0"/>
              <a:t> not </a:t>
            </a:r>
            <a:r>
              <a:rPr lang="de-DE" sz="1000" dirty="0" err="1"/>
              <a:t>missing</a:t>
            </a:r>
            <a:br>
              <a:rPr lang="de-DE" sz="1000" dirty="0"/>
            </a:br>
            <a:r>
              <a:rPr lang="de-DE" sz="1000" b="1" dirty="0"/>
              <a:t>Columns</a:t>
            </a:r>
            <a:r>
              <a:rPr lang="de-DE" sz="1000" dirty="0"/>
              <a:t>: </a:t>
            </a:r>
            <a:r>
              <a:rPr lang="de-DE" sz="1000" dirty="0" err="1"/>
              <a:t>ta_status</a:t>
            </a:r>
            <a:r>
              <a:rPr lang="de-DE" sz="1000" dirty="0"/>
              <a:t>, </a:t>
            </a:r>
            <a:r>
              <a:rPr lang="de-DE" sz="1000" dirty="0" err="1"/>
              <a:t>ta_zugang</a:t>
            </a:r>
            <a:br>
              <a:rPr lang="de-DE" sz="1000" dirty="0"/>
            </a:br>
            <a:r>
              <a:rPr lang="de-DE" sz="1000" b="1" dirty="0" err="1"/>
              <a:t>Prepare</a:t>
            </a:r>
            <a:r>
              <a:rPr lang="de-DE" sz="1000" dirty="0"/>
              <a:t>: Focus on </a:t>
            </a:r>
            <a:r>
              <a:rPr lang="de-DE" sz="1000" dirty="0" err="1"/>
              <a:t>cases</a:t>
            </a:r>
            <a:r>
              <a:rPr lang="de-DE" sz="1000" dirty="0"/>
              <a:t> </a:t>
            </a:r>
            <a:r>
              <a:rPr lang="de-DE" sz="1000" dirty="0" err="1"/>
              <a:t>with</a:t>
            </a:r>
            <a:r>
              <a:rPr lang="de-DE" sz="1000" dirty="0"/>
              <a:t> −30 ≤ </a:t>
            </a:r>
            <a:r>
              <a:rPr lang="de-DE" sz="1000" dirty="0" err="1"/>
              <a:t>ta_zugang</a:t>
            </a:r>
            <a:r>
              <a:rPr lang="de-DE" sz="1000" dirty="0"/>
              <a:t> ≤ −10</a:t>
            </a:r>
            <a:br>
              <a:rPr lang="de-DE" sz="1000" dirty="0"/>
            </a:br>
            <a:r>
              <a:rPr lang="de-DE" sz="1000" b="1" dirty="0"/>
              <a:t>Aggregate</a:t>
            </a:r>
            <a:r>
              <a:rPr lang="de-DE" sz="1000" dirty="0"/>
              <a:t>: </a:t>
            </a:r>
            <a:r>
              <a:rPr lang="de-DE" sz="1000" dirty="0" err="1"/>
              <a:t>ta_status</a:t>
            </a:r>
            <a:r>
              <a:rPr lang="de-DE" sz="1000" dirty="0"/>
              <a:t> </a:t>
            </a:r>
            <a:r>
              <a:rPr lang="de-DE" sz="1000" dirty="0" err="1"/>
              <a:t>frequency</a:t>
            </a:r>
            <a:r>
              <a:rPr lang="de-DE" sz="1000" dirty="0"/>
              <a:t> and </a:t>
            </a:r>
            <a:r>
              <a:rPr lang="de-DE" sz="1000" dirty="0" err="1"/>
              <a:t>share</a:t>
            </a:r>
            <a:r>
              <a:rPr lang="de-DE" sz="1000" dirty="0"/>
              <a:t> in </a:t>
            </a:r>
            <a:r>
              <a:rPr lang="de-DE" sz="1000" dirty="0" err="1"/>
              <a:t>that</a:t>
            </a:r>
            <a:r>
              <a:rPr lang="de-DE" sz="1000" dirty="0"/>
              <a:t> </a:t>
            </a:r>
            <a:r>
              <a:rPr lang="de-DE" sz="1000" dirty="0" err="1"/>
              <a:t>ta_zugang</a:t>
            </a:r>
            <a:r>
              <a:rPr lang="de-DE" sz="1000" dirty="0"/>
              <a:t> band</a:t>
            </a:r>
            <a:br>
              <a:rPr lang="de-DE" sz="1000" dirty="0"/>
            </a:br>
            <a:r>
              <a:rPr lang="de-DE" sz="1000" b="1" dirty="0" err="1"/>
              <a:t>Verify</a:t>
            </a:r>
            <a:r>
              <a:rPr lang="de-DE" sz="1000" b="1" dirty="0"/>
              <a:t> </a:t>
            </a:r>
            <a:r>
              <a:rPr lang="de-DE" sz="1000" b="1" dirty="0" err="1"/>
              <a:t>status</a:t>
            </a:r>
            <a:r>
              <a:rPr lang="de-DE" sz="1000" dirty="0"/>
              <a:t>: warn (</a:t>
            </a:r>
            <a:r>
              <a:rPr lang="de-DE" sz="1000" dirty="0" err="1"/>
              <a:t>empirical</a:t>
            </a:r>
            <a:r>
              <a:rPr lang="de-DE" sz="1000" dirty="0"/>
              <a:t> </a:t>
            </a:r>
            <a:r>
              <a:rPr lang="de-DE" sz="1000" dirty="0" err="1"/>
              <a:t>probability</a:t>
            </a:r>
            <a:r>
              <a:rPr lang="de-DE" sz="1000" dirty="0"/>
              <a:t> </a:t>
            </a:r>
            <a:r>
              <a:rPr lang="de-DE" sz="1000" dirty="0" err="1"/>
              <a:t>only</a:t>
            </a:r>
            <a:r>
              <a:rPr lang="de-DE" sz="1000" dirty="0"/>
              <a:t>)</a:t>
            </a:r>
            <a:br>
              <a:rPr lang="de-DE" sz="1000" dirty="0"/>
            </a:br>
            <a:endParaRPr lang="de-DE" sz="1000" dirty="0"/>
          </a:p>
          <a:p>
            <a:r>
              <a:rPr lang="de-DE" sz="1000" b="1" dirty="0"/>
              <a:t>Summary</a:t>
            </a:r>
            <a:r>
              <a:rPr lang="de-DE" sz="1000" dirty="0"/>
              <a:t>: </a:t>
            </a:r>
            <a:r>
              <a:rPr lang="de-DE" sz="1000" dirty="0" err="1"/>
              <a:t>For</a:t>
            </a:r>
            <a:r>
              <a:rPr lang="de-DE" sz="1000" dirty="0"/>
              <a:t> Funktionsprüfung </a:t>
            </a:r>
            <a:r>
              <a:rPr lang="de-DE" sz="1000" dirty="0" err="1"/>
              <a:t>starting</a:t>
            </a:r>
            <a:r>
              <a:rPr lang="de-DE" sz="1000" dirty="0"/>
              <a:t> ~20 </a:t>
            </a:r>
            <a:r>
              <a:rPr lang="de-DE" sz="1000" dirty="0" err="1"/>
              <a:t>days</a:t>
            </a:r>
            <a:r>
              <a:rPr lang="de-DE" sz="1000" dirty="0"/>
              <a:t> </a:t>
            </a:r>
            <a:r>
              <a:rPr lang="de-DE" sz="1000" dirty="0" err="1"/>
              <a:t>early</a:t>
            </a:r>
            <a:r>
              <a:rPr lang="de-DE" sz="1000" dirty="0"/>
              <a:t>, </a:t>
            </a:r>
            <a:r>
              <a:rPr lang="de-DE" sz="1000" dirty="0" err="1"/>
              <a:t>about</a:t>
            </a:r>
            <a:r>
              <a:rPr lang="de-DE" sz="1000" dirty="0"/>
              <a:t> </a:t>
            </a:r>
            <a:r>
              <a:rPr lang="de-DE" sz="1000" b="1" dirty="0"/>
              <a:t>99 %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historical</a:t>
            </a:r>
            <a:r>
              <a:rPr lang="de-DE" sz="1000" dirty="0"/>
              <a:t> </a:t>
            </a:r>
            <a:r>
              <a:rPr lang="de-DE" sz="1000" dirty="0" err="1"/>
              <a:t>cases</a:t>
            </a:r>
            <a:r>
              <a:rPr lang="de-DE" sz="1000" dirty="0"/>
              <a:t> </a:t>
            </a:r>
            <a:r>
              <a:rPr lang="de-DE" sz="1000" dirty="0" err="1"/>
              <a:t>are</a:t>
            </a:r>
            <a:r>
              <a:rPr lang="de-DE" sz="1000" dirty="0"/>
              <a:t> </a:t>
            </a:r>
            <a:r>
              <a:rPr lang="de-DE" sz="1000" b="1" dirty="0"/>
              <a:t>ohne TA</a:t>
            </a:r>
            <a:r>
              <a:rPr lang="de-DE" sz="1000" dirty="0"/>
              <a:t> and ~1 % </a:t>
            </a:r>
            <a:r>
              <a:rPr lang="de-DE" sz="1000" b="1" dirty="0"/>
              <a:t>mit TA</a:t>
            </a:r>
            <a:r>
              <a:rPr lang="de-DE" sz="1000" dirty="0"/>
              <a:t>, so </a:t>
            </a:r>
            <a:r>
              <a:rPr lang="de-DE" sz="1000" b="1" dirty="0" err="1"/>
              <a:t>ta_status</a:t>
            </a:r>
            <a:r>
              <a:rPr lang="de-DE" sz="1000" b="1" dirty="0"/>
              <a:t> = "ohne TA"</a:t>
            </a:r>
            <a:r>
              <a:rPr lang="de-DE" sz="1000" dirty="0"/>
              <a:t> </a:t>
            </a:r>
            <a:r>
              <a:rPr lang="de-DE" sz="1000" dirty="0" err="1"/>
              <a:t>is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clearly</a:t>
            </a:r>
            <a:r>
              <a:rPr lang="de-DE" sz="1000" dirty="0"/>
              <a:t> </a:t>
            </a:r>
            <a:r>
              <a:rPr lang="de-DE" sz="1000" dirty="0" err="1"/>
              <a:t>expected</a:t>
            </a:r>
            <a:r>
              <a:rPr lang="de-DE" sz="1000" dirty="0"/>
              <a:t> </a:t>
            </a:r>
            <a:r>
              <a:rPr lang="de-DE" sz="1000" dirty="0" err="1"/>
              <a:t>status</a:t>
            </a:r>
            <a:r>
              <a:rPr lang="de-DE" sz="1000" dirty="0"/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C5E33B6-B3A6-67E1-2752-14B5747B61B2}"/>
              </a:ext>
            </a:extLst>
          </p:cNvPr>
          <p:cNvSpPr txBox="1"/>
          <p:nvPr/>
        </p:nvSpPr>
        <p:spPr>
          <a:xfrm>
            <a:off x="5812301" y="4679936"/>
            <a:ext cx="318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classification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avg_type</a:t>
            </a:r>
            <a:r>
              <a:rPr lang="de-DE" sz="1000" dirty="0">
                <a:latin typeface="Menlo"/>
              </a:rPr>
              <a:t> == Funktionsprüfung;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== -20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>
                <a:latin typeface="Menlo"/>
              </a:rPr>
              <a:t>status,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Classify a likely ta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status in a situation where the operation </a:t>
            </a:r>
            <a:r>
              <a:rPr lang="en-US" sz="1000" dirty="0" err="1">
                <a:latin typeface="Menlo"/>
              </a:rPr>
              <a:t>startet</a:t>
            </a:r>
            <a:r>
              <a:rPr lang="en-US" sz="1000" dirty="0">
                <a:latin typeface="Menlo"/>
              </a:rPr>
              <a:t> 20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early with a '</a:t>
            </a:r>
            <a:r>
              <a:rPr lang="en-US" sz="1000" dirty="0" err="1">
                <a:latin typeface="Menlo"/>
              </a:rPr>
              <a:t>Funktionsprüfung</a:t>
            </a:r>
            <a:r>
              <a:rPr lang="en-US" sz="1000" dirty="0">
                <a:latin typeface="Menlo"/>
              </a:rPr>
              <a:t>'.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17B8181-83B1-3084-6C95-6567CC3C4FE1}"/>
              </a:ext>
            </a:extLst>
          </p:cNvPr>
          <p:cNvSpPr txBox="1"/>
          <p:nvPr/>
        </p:nvSpPr>
        <p:spPr>
          <a:xfrm>
            <a:off x="0" y="56293"/>
            <a:ext cx="883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</a:t>
            </a:r>
            <a:r>
              <a:rPr lang="de-DE" sz="1400" b="1" dirty="0">
                <a:latin typeface="Menlo"/>
              </a:rPr>
              <a:t>0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dirty="0">
                <a:latin typeface="Menlo"/>
              </a:rPr>
              <a:t>Classify a likely ta status in a situation where the operation </a:t>
            </a:r>
            <a:r>
              <a:rPr lang="en-US" sz="1400" dirty="0" err="1">
                <a:latin typeface="Menlo"/>
              </a:rPr>
              <a:t>startet</a:t>
            </a:r>
            <a:r>
              <a:rPr lang="en-US" sz="1400" dirty="0">
                <a:latin typeface="Menlo"/>
              </a:rPr>
              <a:t> 20 days early with a '</a:t>
            </a:r>
            <a:r>
              <a:rPr lang="en-US" sz="1400" dirty="0" err="1">
                <a:latin typeface="Menlo"/>
              </a:rPr>
              <a:t>Funktionsprüfung</a:t>
            </a:r>
            <a:r>
              <a:rPr lang="en-US" sz="1400" dirty="0">
                <a:latin typeface="Menlo"/>
              </a:rPr>
              <a:t>’.</a:t>
            </a:r>
            <a:endParaRPr lang="en-US" sz="1400" noProof="0" dirty="0">
              <a:latin typeface="Menlo"/>
            </a:endParaRPr>
          </a:p>
        </p:txBody>
      </p:sp>
      <p:pic>
        <p:nvPicPr>
          <p:cNvPr id="6" name="Grafik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A7FDEDAB-5215-8E5D-AE26-12EEC8E79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8512"/>
            <a:ext cx="1887794" cy="1913893"/>
          </a:xfrm>
          <a:prstGeom prst="rect">
            <a:avLst/>
          </a:prstGeom>
        </p:spPr>
      </p:pic>
      <p:pic>
        <p:nvPicPr>
          <p:cNvPr id="11" name="Grafik 10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49B91DB-90E7-E44D-31E2-AD3F1E7A8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3315"/>
            <a:ext cx="4303333" cy="199926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EE5E7B4-4D1B-D347-8BDA-B3DFE32C2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2615009"/>
            <a:ext cx="4817808" cy="1985472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5FF8AD4-916B-F3FC-86A5-BC7397185183}"/>
              </a:ext>
            </a:extLst>
          </p:cNvPr>
          <p:cNvSpPr txBox="1"/>
          <p:nvPr/>
        </p:nvSpPr>
        <p:spPr>
          <a:xfrm>
            <a:off x="1244271" y="2292443"/>
            <a:ext cx="1079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Menlo"/>
              </a:rPr>
              <a:t>View all</a:t>
            </a:r>
            <a:endParaRPr lang="de-DE" sz="1200" b="1" dirty="0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97AB8F75-D39A-23C8-1474-C74B5B965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484495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14AB238F-88DD-0DA0-FF85-7EDEE0119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30790CD6-84C1-D561-5279-8FC1D3A84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228617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6D008CA1-4022-AA06-76EE-D36DCD8CB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707986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422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8AD1C-D11F-5A0C-5536-FEEEEA3DF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97985E10-E16C-48DC-BD2C-B463288ACC7B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summary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Operations finish on average eight days early, with most between fifty days early and nineteen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late. Some cases span up to six hundred thirteen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early or two hundred seventeen days late. No filter for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Konstruktion</a:t>
            </a:r>
            <a:r>
              <a:rPr lang="en-US" sz="1000" dirty="0">
                <a:latin typeface="menlo"/>
              </a:rPr>
              <a:t> operations applied.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59F3747-689D-B4DC-EAA9-7ACB85AE563D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31DD0A8-F60C-A9F1-01B4-F38D0CCF15D5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8E01F6F-85F2-C654-E41F-5620DA577038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AA1D6BDB-07CA-0EC8-AF97-D8C2968BF3E8}"/>
              </a:ext>
            </a:extLst>
          </p:cNvPr>
          <p:cNvSpPr txBox="1"/>
          <p:nvPr/>
        </p:nvSpPr>
        <p:spPr>
          <a:xfrm>
            <a:off x="5812301" y="255551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Menlo"/>
              </a:rPr>
              <a:t>Family/type</a:t>
            </a:r>
            <a:r>
              <a:rPr lang="en-US" sz="1000" dirty="0">
                <a:latin typeface="Menlo"/>
              </a:rPr>
              <a:t>: descriptive, summary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Filters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 == </a:t>
            </a:r>
            <a:r>
              <a:rPr lang="en-US" sz="1000" dirty="0" err="1">
                <a:latin typeface="Menlo"/>
              </a:rPr>
              <a:t>Konstruktion</a:t>
            </a:r>
            <a:r>
              <a:rPr lang="en-US" sz="1000" dirty="0">
                <a:latin typeface="Menlo"/>
              </a:rPr>
              <a:t>;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 not missing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Columns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ta_abgang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</a:t>
            </a:r>
            <a:r>
              <a:rPr lang="en-US" sz="1000" dirty="0">
                <a:latin typeface="Menlo"/>
              </a:rPr>
              <a:t>: Drop rows with missing </a:t>
            </a:r>
            <a:r>
              <a:rPr lang="en-US" sz="1000" dirty="0" err="1">
                <a:latin typeface="Menlo"/>
              </a:rPr>
              <a:t>ta_abgang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Aggregate</a:t>
            </a:r>
            <a:r>
              <a:rPr lang="en-US" sz="1000" dirty="0">
                <a:latin typeface="Menlo"/>
              </a:rPr>
              <a:t>: summary stats (mean, median, percentiles)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Verify status</a:t>
            </a:r>
            <a:r>
              <a:rPr lang="en-US" sz="1000" dirty="0">
                <a:latin typeface="Menlo"/>
              </a:rPr>
              <a:t>: warn (check summary)</a:t>
            </a:r>
            <a:br>
              <a:rPr lang="en-US" sz="1000" dirty="0">
                <a:latin typeface="Menlo"/>
              </a:rPr>
            </a:br>
            <a:endParaRPr lang="en-US" sz="1000" dirty="0">
              <a:latin typeface="Menlo"/>
            </a:endParaRPr>
          </a:p>
          <a:p>
            <a:r>
              <a:rPr lang="en-US" sz="1000" b="1" dirty="0">
                <a:latin typeface="Menlo"/>
              </a:rPr>
              <a:t>Summary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Konstruktion</a:t>
            </a:r>
            <a:r>
              <a:rPr lang="en-US" sz="1000" dirty="0">
                <a:latin typeface="Menlo"/>
              </a:rPr>
              <a:t> operations have an average end deviation of about </a:t>
            </a:r>
            <a:r>
              <a:rPr lang="en-US" sz="1000" b="1" dirty="0">
                <a:latin typeface="Menlo"/>
              </a:rPr>
              <a:t>+46 days</a:t>
            </a:r>
            <a:r>
              <a:rPr lang="en-US" sz="1000" dirty="0">
                <a:latin typeface="Menlo"/>
              </a:rPr>
              <a:t> (median </a:t>
            </a:r>
            <a:r>
              <a:rPr lang="en-US" sz="1000" b="1" dirty="0">
                <a:latin typeface="Menlo"/>
              </a:rPr>
              <a:t>+32 days</a:t>
            </a:r>
            <a:r>
              <a:rPr lang="en-US" sz="1000" dirty="0">
                <a:latin typeface="Menlo"/>
              </a:rPr>
              <a:t>), with most between </a:t>
            </a:r>
            <a:r>
              <a:rPr lang="en-US" sz="1000" b="1" dirty="0">
                <a:latin typeface="Menlo"/>
              </a:rPr>
              <a:t>−8 and +129 days</a:t>
            </a:r>
            <a:r>
              <a:rPr lang="en-US" sz="1000" dirty="0">
                <a:latin typeface="Menlo"/>
              </a:rPr>
              <a:t> and extremes from </a:t>
            </a:r>
            <a:r>
              <a:rPr lang="en-US" sz="1000" b="1" dirty="0">
                <a:latin typeface="Menlo"/>
              </a:rPr>
              <a:t>−217 up to +217 days</a:t>
            </a:r>
            <a:r>
              <a:rPr lang="en-US" sz="1000" dirty="0">
                <a:latin typeface="Menlo"/>
              </a:rPr>
              <a:t>; strong right-skew and very large late finishes. 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5016F44-3BDD-F3B6-1DC7-E1B74CDDFA8F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</a:t>
            </a:r>
            <a:r>
              <a:rPr lang="en-US" sz="1000" dirty="0" err="1">
                <a:latin typeface="Menlo"/>
              </a:rPr>
              <a:t>stats_summary</a:t>
            </a:r>
            <a:r>
              <a:rPr lang="en-US" sz="1000" dirty="0">
                <a:latin typeface="Menlo"/>
              </a:rPr>
              <a:t> 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Operations finished about 8 days early on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average. Typical deviations range from 50 days early to 19 days late. Extreme cases: 613 days early to 217 days late. Cannot filter to </a:t>
            </a:r>
            <a:r>
              <a:rPr lang="en-US" sz="1000" dirty="0" err="1">
                <a:latin typeface="Menlo"/>
              </a:rPr>
              <a:t>Konstruktion</a:t>
            </a:r>
            <a:r>
              <a:rPr lang="en-US" sz="1000" dirty="0">
                <a:latin typeface="Menlo"/>
              </a:rPr>
              <a:t> operations: missing group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data.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57C91B-748E-1BE1-84FA-26560641DF6B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11: </a:t>
            </a:r>
            <a:r>
              <a:rPr lang="en-US" sz="1400" dirty="0">
                <a:latin typeface="Menlo"/>
              </a:rPr>
              <a:t>For </a:t>
            </a:r>
            <a:r>
              <a:rPr lang="en-US" sz="1400" dirty="0" err="1">
                <a:latin typeface="Menlo"/>
              </a:rPr>
              <a:t>Konstruktion</a:t>
            </a:r>
            <a:r>
              <a:rPr lang="en-US" sz="1400" dirty="0">
                <a:latin typeface="Menlo"/>
              </a:rPr>
              <a:t> operations, what are the main statistics about the end schedule deviation?</a:t>
            </a:r>
            <a:r>
              <a:rPr lang="de-DE" sz="1400" b="1" noProof="0" dirty="0">
                <a:latin typeface="Menlo"/>
              </a:rPr>
              <a:t> </a:t>
            </a:r>
            <a:endParaRPr lang="en-US" sz="1400" noProof="0" dirty="0">
              <a:latin typeface="Menlo"/>
            </a:endParaRPr>
          </a:p>
        </p:txBody>
      </p:sp>
      <p:pic>
        <p:nvPicPr>
          <p:cNvPr id="2" name="Grafik 1" descr="Ein Bild, das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F7560F12-3217-36B7-557F-4652FAE9C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22474"/>
            <a:ext cx="5878153" cy="192022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A1F7BE7-3043-E17B-487C-74F11FBEB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656869"/>
            <a:ext cx="4601497" cy="1896328"/>
          </a:xfrm>
          <a:prstGeom prst="rect">
            <a:avLst/>
          </a:prstGeom>
        </p:spPr>
      </p:pic>
      <p:pic>
        <p:nvPicPr>
          <p:cNvPr id="9" name="Grafik 8" descr="Ein Bild, das Diagramm, Screenshot, Text, Reihe enthält.&#10;&#10;KI-generierte Inhalte können fehlerhaft sein.">
            <a:extLst>
              <a:ext uri="{FF2B5EF4-FFF2-40B4-BE49-F238E27FC236}">
                <a16:creationId xmlns:a16="http://schemas.microsoft.com/office/drawing/2014/main" id="{53E27191-40C6-3B4F-8EC2-3763F518C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8796"/>
            <a:ext cx="5850239" cy="1920239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55A5FAD7-739F-9CF9-EE3B-E4917BBCE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058222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823AA00-8A31-9B89-5733-0B2638C70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1CBACC20-27D5-4F6B-BA73-4D2A9E307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416765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12CF3C29-A98B-028F-8CE2-813E8F322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29092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109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EC747-705B-751C-2C38-CA198F01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1E7CB35-FED4-8FC4-CFF6-72A09B3816A7}"/>
              </a:ext>
            </a:extLst>
          </p:cNvPr>
          <p:cNvSpPr txBox="1"/>
          <p:nvPr/>
        </p:nvSpPr>
        <p:spPr>
          <a:xfrm>
            <a:off x="5812301" y="40312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forecasting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avg_ta_rel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mean:ta_rel</a:t>
            </a:r>
            <a:r>
              <a:rPr lang="en-US" sz="1000" dirty="0">
                <a:latin typeface="Menlo"/>
              </a:rPr>
              <a:t>), </a:t>
            </a: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The forecast predicts weekly average lead-time deviation will stay near the historical mean of -1.9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over the next 16 weeks. Usual range between -3.4 and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-0.8 days. Update model if actuals diverge.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2EF39F1-06CE-6990-DCC8-544F965BF9CF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9A5756C-6393-2788-C7CF-BF6CC5C62761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736CA17-6977-9C9A-BBC5-C71E6926BC67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836D0479-F0E8-8851-0AF1-45650510803C}"/>
              </a:ext>
            </a:extLst>
          </p:cNvPr>
          <p:cNvSpPr txBox="1"/>
          <p:nvPr/>
        </p:nvSpPr>
        <p:spPr>
          <a:xfrm>
            <a:off x="5812301" y="2555512"/>
            <a:ext cx="3188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latin typeface="Menlo"/>
              </a:rPr>
              <a:t>Family/type</a:t>
            </a:r>
            <a:r>
              <a:rPr lang="en-US" sz="900" dirty="0">
                <a:latin typeface="Menlo"/>
              </a:rPr>
              <a:t>: predictive, time series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Filters</a:t>
            </a:r>
            <a:r>
              <a:rPr lang="en-US" sz="900" dirty="0">
                <a:latin typeface="Menlo"/>
              </a:rPr>
              <a:t>: 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 not missing; </a:t>
            </a:r>
            <a:r>
              <a:rPr lang="en-US" sz="900" dirty="0" err="1">
                <a:latin typeface="Menlo"/>
              </a:rPr>
              <a:t>ta_rel</a:t>
            </a:r>
            <a:r>
              <a:rPr lang="en-US" sz="900" dirty="0">
                <a:latin typeface="Menlo"/>
              </a:rPr>
              <a:t> (lead-time deviation) not missing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Columns</a:t>
            </a:r>
            <a:r>
              <a:rPr lang="en-US" sz="900" dirty="0">
                <a:latin typeface="Menlo"/>
              </a:rPr>
              <a:t>: </a:t>
            </a:r>
            <a:r>
              <a:rPr lang="en-US" sz="900" dirty="0" err="1">
                <a:latin typeface="Menlo"/>
              </a:rPr>
              <a:t>ta_rel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ist_ende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Prepare</a:t>
            </a:r>
            <a:r>
              <a:rPr lang="en-US" sz="900" dirty="0">
                <a:latin typeface="Menlo"/>
              </a:rPr>
              <a:t>: Derive week from 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; drop missing values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Aggregate</a:t>
            </a:r>
            <a:r>
              <a:rPr lang="en-US" sz="900" dirty="0">
                <a:latin typeface="Menlo"/>
              </a:rPr>
              <a:t>: mean(</a:t>
            </a:r>
            <a:r>
              <a:rPr lang="en-US" sz="900" dirty="0" err="1">
                <a:latin typeface="Menlo"/>
              </a:rPr>
              <a:t>ta_rel</a:t>
            </a:r>
            <a:r>
              <a:rPr lang="en-US" sz="900" dirty="0">
                <a:latin typeface="Menlo"/>
              </a:rPr>
              <a:t>) by week; linear trend forecast next 16 weeks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Verify status</a:t>
            </a:r>
            <a:r>
              <a:rPr lang="en-US" sz="900" dirty="0">
                <a:latin typeface="Menlo"/>
              </a:rPr>
              <a:t>: warn (simple linear forecast, no intervals)</a:t>
            </a:r>
          </a:p>
          <a:p>
            <a:br>
              <a:rPr lang="en-US" sz="900" b="1" dirty="0">
                <a:latin typeface="Menlo"/>
              </a:rPr>
            </a:br>
            <a:r>
              <a:rPr lang="en-US" sz="900" b="1" dirty="0">
                <a:latin typeface="Menlo"/>
              </a:rPr>
              <a:t>Summary</a:t>
            </a:r>
            <a:r>
              <a:rPr lang="en-US" sz="900" dirty="0">
                <a:latin typeface="Menlo"/>
              </a:rPr>
              <a:t>: The model projects weekly average lead-time deviation to slowly improve from about </a:t>
            </a:r>
            <a:r>
              <a:rPr lang="en-US" sz="900" b="1" dirty="0">
                <a:latin typeface="Menlo"/>
              </a:rPr>
              <a:t>−1.2 days</a:t>
            </a:r>
            <a:r>
              <a:rPr lang="en-US" sz="900" dirty="0">
                <a:latin typeface="Menlo"/>
              </a:rPr>
              <a:t> to roughly </a:t>
            </a:r>
            <a:r>
              <a:rPr lang="en-US" sz="900" b="1" dirty="0">
                <a:latin typeface="Menlo"/>
              </a:rPr>
              <a:t>−0.8 days</a:t>
            </a:r>
            <a:r>
              <a:rPr lang="en-US" sz="900" dirty="0">
                <a:latin typeface="Menlo"/>
              </a:rPr>
              <a:t> over the next 16 weeks, i.e. operations remain slightly faster than planned with a mild trend toward on-time lead times. 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2FFA0C4-079A-4D96-2A8D-62BB6A773EB7}"/>
              </a:ext>
            </a:extLst>
          </p:cNvPr>
          <p:cNvSpPr txBox="1"/>
          <p:nvPr/>
        </p:nvSpPr>
        <p:spPr>
          <a:xfrm>
            <a:off x="5812301" y="4679936"/>
            <a:ext cx="31886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forecasting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de-DE" sz="1000" dirty="0" err="1">
                <a:latin typeface="Menlo"/>
              </a:rPr>
              <a:t>ist_ende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ta_rel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ist_dlz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avg_ta_rel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mean:ta_rel</a:t>
            </a:r>
            <a:r>
              <a:rPr lang="en-US" sz="1000" dirty="0">
                <a:latin typeface="Menlo"/>
              </a:rPr>
              <a:t>), </a:t>
            </a: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We forecasted the next 16 weeks using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historical lead-time deviation data. Operations usually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finish faster than planned. Deviation ranges between 3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days early and 0.8 days early. Typical weekly deviation: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around 1.6 days faster than planned. Some weeks had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very few operations recorded (down to 1).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F4B74D6-F0F4-6841-795A-2B4764DE8622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12: </a:t>
            </a:r>
            <a:r>
              <a:rPr lang="en-US" sz="1400" dirty="0">
                <a:latin typeface="Menlo"/>
              </a:rPr>
              <a:t>Forecast the next 16 weeks of weekly average Lead-time deviation.</a:t>
            </a:r>
            <a:r>
              <a:rPr lang="de-DE" sz="1400" b="1" noProof="0" dirty="0">
                <a:latin typeface="Menlo"/>
              </a:rPr>
              <a:t> 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D2C33F55-FD98-03B7-963E-F67BD3050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33767"/>
            <a:ext cx="4090219" cy="206262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1A9558B-01BA-76A2-4531-78D15003E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2642245"/>
            <a:ext cx="4709654" cy="1940900"/>
          </a:xfrm>
          <a:prstGeom prst="rect">
            <a:avLst/>
          </a:prstGeom>
        </p:spPr>
      </p:pic>
      <p:pic>
        <p:nvPicPr>
          <p:cNvPr id="11" name="Grafik 10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016BF679-D45D-BE4A-A2C8-CE1941D20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9244"/>
            <a:ext cx="3991897" cy="2016878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F6CA83A0-6272-757E-6F9B-901B28F76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44452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6D45BC4-0D40-7468-FA79-75626476E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53B7BE52-757C-6A3C-0146-12E0091BB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861792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EA5370ED-605E-FDF0-2561-FC2149722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818408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365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37817-0167-9B25-9805-E3B55472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530661C5-4A1E-12A3-D4BE-9B157D7C8447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prescriptive, </a:t>
            </a:r>
            <a:r>
              <a:rPr lang="en-US" sz="1000" dirty="0" err="1">
                <a:latin typeface="Menlo"/>
              </a:rPr>
              <a:t>candidate_ranking</a:t>
            </a:r>
            <a:r>
              <a:rPr lang="en-US" sz="1000" dirty="0">
                <a:latin typeface="Menlo"/>
              </a:rPr>
              <a:t> 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Clean up text (trim spaces);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Standardize missing-value labels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We examined end deviations of finished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operations but did not rank resource groups. Group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averages need to be computed to identify the best group. Typical deviation: 4 days early. Extremes: up to 50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early or 19 days late.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126DD73-D625-5612-6102-FBE477A645E3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0EACB40-7CB0-0D3E-4F20-378048E3399A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1CAD93F3-A494-C354-3BBE-961FC1706424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C3D0AC21-A170-238B-A70F-D82DD08FA4AC}"/>
              </a:ext>
            </a:extLst>
          </p:cNvPr>
          <p:cNvSpPr txBox="1"/>
          <p:nvPr/>
        </p:nvSpPr>
        <p:spPr>
          <a:xfrm>
            <a:off x="5812301" y="2555512"/>
            <a:ext cx="318867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summary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avg_type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count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avg_type</a:t>
            </a:r>
            <a:r>
              <a:rPr lang="de-DE" sz="900" dirty="0">
                <a:latin typeface="Menlo"/>
              </a:rPr>
              <a:t>) ≥ 30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avg_type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avg_type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filter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operation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types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≥ 30 </a:t>
            </a:r>
            <a:r>
              <a:rPr lang="de-DE" sz="900" dirty="0" err="1">
                <a:latin typeface="Menlo"/>
              </a:rPr>
              <a:t>observations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), </a:t>
            </a:r>
            <a:r>
              <a:rPr lang="de-DE" sz="900" dirty="0" err="1">
                <a:latin typeface="Menlo"/>
              </a:rPr>
              <a:t>count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avg_type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</a:t>
            </a:r>
            <a:r>
              <a:rPr lang="de-DE" sz="900" dirty="0" err="1">
                <a:latin typeface="Menlo"/>
              </a:rPr>
              <a:t>small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differences</a:t>
            </a:r>
            <a:r>
              <a:rPr lang="de-DE" sz="900" dirty="0">
                <a:latin typeface="Menlo"/>
              </a:rPr>
              <a:t>, check </a:t>
            </a:r>
            <a:r>
              <a:rPr lang="de-DE" sz="900" dirty="0" err="1">
                <a:latin typeface="Menlo"/>
              </a:rPr>
              <a:t>counts</a:t>
            </a:r>
            <a:r>
              <a:rPr lang="de-DE" sz="900" dirty="0">
                <a:latin typeface="Menlo"/>
              </a:rPr>
              <a:t>)</a:t>
            </a:r>
          </a:p>
          <a:p>
            <a:endParaRPr lang="de-DE" sz="900" dirty="0">
              <a:latin typeface="Menlo"/>
            </a:endParaRPr>
          </a:p>
          <a:p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Among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sufficiently</a:t>
            </a:r>
            <a:r>
              <a:rPr lang="de-DE" sz="900" dirty="0">
                <a:latin typeface="Menlo"/>
              </a:rPr>
              <a:t> frequent </a:t>
            </a:r>
            <a:r>
              <a:rPr lang="de-DE" sz="900" dirty="0" err="1">
                <a:latin typeface="Menlo"/>
              </a:rPr>
              <a:t>types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the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lowest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cycle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times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for</a:t>
            </a:r>
            <a:r>
              <a:rPr lang="de-DE" sz="900" dirty="0">
                <a:latin typeface="Menlo"/>
              </a:rPr>
              <a:t> „</a:t>
            </a:r>
            <a:r>
              <a:rPr lang="de-DE" sz="900" dirty="0" err="1">
                <a:latin typeface="Menlo"/>
              </a:rPr>
              <a:t>Tiefloch</a:t>
            </a:r>
            <a:r>
              <a:rPr lang="de-DE" sz="900" dirty="0">
                <a:latin typeface="Menlo"/>
              </a:rPr>
              <a:t> bohren Ø groß“ (~0.78 d), „Bearbeitungsstrategie wählen“ (~0.83 d), „NC-Programm erstellen 3+2“ (~0.83 d) and „Startloch bohren Ø groß“ (~0.88 d); </a:t>
            </a:r>
            <a:r>
              <a:rPr lang="de-DE" sz="900" dirty="0" err="1">
                <a:latin typeface="Menlo"/>
              </a:rPr>
              <a:t>these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the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best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candidates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when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prioritizing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very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short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cycle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times</a:t>
            </a:r>
            <a:r>
              <a:rPr lang="de-DE" sz="900" dirty="0">
                <a:latin typeface="Menlo"/>
              </a:rPr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1235ABB-CA43-3C97-1092-99BEFEF95905}"/>
              </a:ext>
            </a:extLst>
          </p:cNvPr>
          <p:cNvSpPr txBox="1"/>
          <p:nvPr/>
        </p:nvSpPr>
        <p:spPr>
          <a:xfrm>
            <a:off x="5812301" y="4679936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</a:t>
            </a:r>
            <a:r>
              <a:rPr lang="en-US" sz="1000" dirty="0" err="1">
                <a:latin typeface="Menlo"/>
              </a:rPr>
              <a:t>group_compare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 err="1">
                <a:latin typeface="Menlo"/>
              </a:rPr>
              <a:t>groupby</a:t>
            </a:r>
            <a:r>
              <a:rPr lang="en-US" sz="1000" dirty="0">
                <a:latin typeface="Menlo"/>
              </a:rPr>
              <a:t>=[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];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median_cycle_time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median:ist_dlz</a:t>
            </a:r>
            <a:r>
              <a:rPr lang="en-US" sz="1000" dirty="0">
                <a:latin typeface="Menlo"/>
              </a:rPr>
              <a:t>),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Which operation type would be best for low cycle times?.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26C2BA3-8465-FA45-5900-94C865CE7721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13: </a:t>
            </a:r>
            <a:r>
              <a:rPr lang="en-US" sz="1400" dirty="0">
                <a:latin typeface="Menlo"/>
              </a:rPr>
              <a:t>Which operation type would be best for low cycle times?</a:t>
            </a:r>
            <a:r>
              <a:rPr lang="de-DE" sz="1400" b="1" noProof="0" dirty="0">
                <a:latin typeface="Menlo"/>
              </a:rPr>
              <a:t> 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Screenshot, Reihe, parallel enthält.&#10;&#10;KI-generierte Inhalte können fehlerhaft sein.">
            <a:extLst>
              <a:ext uri="{FF2B5EF4-FFF2-40B4-BE49-F238E27FC236}">
                <a16:creationId xmlns:a16="http://schemas.microsoft.com/office/drawing/2014/main" id="{407357EF-44C7-8CCE-D5B0-3E16D8E6A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83010"/>
            <a:ext cx="3352800" cy="200473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9C60CAD-6F7B-F449-3345-04548C7B8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13038"/>
            <a:ext cx="4719484" cy="1949179"/>
          </a:xfrm>
          <a:prstGeom prst="rect">
            <a:avLst/>
          </a:prstGeom>
        </p:spPr>
      </p:pic>
      <p:pic>
        <p:nvPicPr>
          <p:cNvPr id="11" name="Grafik 10" descr="Ein Bild, das Text, Screenshot, Reihe, Rechteck enthält.&#10;&#10;KI-generierte Inhalte können fehlerhaft sein.">
            <a:extLst>
              <a:ext uri="{FF2B5EF4-FFF2-40B4-BE49-F238E27FC236}">
                <a16:creationId xmlns:a16="http://schemas.microsoft.com/office/drawing/2014/main" id="{A0C979DA-578A-F901-3CB1-DC24A2410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2175"/>
            <a:ext cx="3756660" cy="2058170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F60B90E-8A4B-6376-9FC3-0F603C2B7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607216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D044564-D49A-BAB5-8CC0-C4A14DADF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930CC978-DDA7-1224-E234-AD7D6B5E8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140269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1072679B-9395-994C-F591-4CB2654EF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630897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522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7D2A-9AC1-E3EA-7795-2BC683C5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5ECDE469-0D9A-4BBD-A958-AE0744B7EDD8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diagnostic, </a:t>
            </a:r>
            <a:r>
              <a:rPr lang="en-US" sz="1000" dirty="0" err="1">
                <a:latin typeface="Menlo"/>
              </a:rPr>
              <a:t>anomaly_explanation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laufend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Clean up text 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Unfinished operations start on average 8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late, with most starting between 5 days early and 29 days late. Reducing extreme delays should improve overall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punctuality. Some operations delayed up to 168 days.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Review operations delayed over 29 days.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65F7B4A-C5CA-2DEB-C6F0-E598468ED37C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B9754B87-AD8F-22FD-F2DF-A386118038A4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EF2837CB-F36F-5CE2-6427-CCB7EB65C0F8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10296A86-A590-2AD6-9F6B-1C7967E9AD09}"/>
              </a:ext>
            </a:extLst>
          </p:cNvPr>
          <p:cNvSpPr txBox="1"/>
          <p:nvPr/>
        </p:nvSpPr>
        <p:spPr>
          <a:xfrm>
            <a:off x="5812301" y="2555512"/>
            <a:ext cx="3188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decision</a:t>
            </a:r>
            <a:r>
              <a:rPr lang="de-DE" sz="900" dirty="0">
                <a:latin typeface="Menlo"/>
              </a:rPr>
              <a:t> support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ist_ende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avg_type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/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/</a:t>
            </a:r>
            <a:r>
              <a:rPr lang="de-DE" sz="900" dirty="0" err="1">
                <a:latin typeface="Menlo"/>
              </a:rPr>
              <a:t>avg_type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restrict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groups</a:t>
            </a:r>
            <a:r>
              <a:rPr lang="de-DE" sz="900" dirty="0">
                <a:latin typeface="Menlo"/>
              </a:rPr>
              <a:t>/</a:t>
            </a:r>
            <a:r>
              <a:rPr lang="de-DE" sz="900" dirty="0" err="1">
                <a:latin typeface="Menlo"/>
              </a:rPr>
              <a:t>types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≥10 </a:t>
            </a:r>
            <a:r>
              <a:rPr lang="de-DE" sz="900" dirty="0" err="1">
                <a:latin typeface="Menlo"/>
              </a:rPr>
              <a:t>unfinished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ops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)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and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avg_type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</a:t>
            </a:r>
            <a:r>
              <a:rPr lang="de-DE" sz="900" dirty="0" err="1">
                <a:latin typeface="Menlo"/>
              </a:rPr>
              <a:t>unfinished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set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only</a:t>
            </a:r>
            <a:r>
              <a:rPr lang="de-DE" sz="900" dirty="0">
                <a:latin typeface="Menlo"/>
              </a:rPr>
              <a:t>)</a:t>
            </a:r>
          </a:p>
          <a:p>
            <a:endParaRPr lang="de-DE" sz="900" dirty="0">
              <a:latin typeface="Menlo"/>
            </a:endParaRPr>
          </a:p>
          <a:p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For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unfinished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operations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the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largest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start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delays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come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from</a:t>
            </a:r>
            <a:r>
              <a:rPr lang="de-DE" sz="900" dirty="0">
                <a:latin typeface="Menlo"/>
              </a:rPr>
              <a:t> Konstruktion (~+89 d) and, at a </a:t>
            </a:r>
            <a:r>
              <a:rPr lang="de-DE" sz="900" dirty="0" err="1">
                <a:latin typeface="Menlo"/>
              </a:rPr>
              <a:t>lower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level</a:t>
            </a:r>
            <a:r>
              <a:rPr lang="de-DE" sz="900" dirty="0">
                <a:latin typeface="Menlo"/>
              </a:rPr>
              <a:t>, Elektroden, CAM-Fertigung, HSC, Montage (~+10–27 d); </a:t>
            </a:r>
            <a:r>
              <a:rPr lang="de-DE" sz="900" dirty="0" err="1">
                <a:latin typeface="Menlo"/>
              </a:rPr>
              <a:t>focusing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planning</a:t>
            </a:r>
            <a:r>
              <a:rPr lang="de-DE" sz="900" dirty="0">
                <a:latin typeface="Menlo"/>
              </a:rPr>
              <a:t> and release </a:t>
            </a:r>
            <a:r>
              <a:rPr lang="de-DE" sz="900" dirty="0" err="1">
                <a:latin typeface="Menlo"/>
              </a:rPr>
              <a:t>control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there</a:t>
            </a:r>
            <a:r>
              <a:rPr lang="de-DE" sz="900" dirty="0">
                <a:latin typeface="Menlo"/>
              </a:rPr>
              <a:t> will </a:t>
            </a:r>
            <a:r>
              <a:rPr lang="de-DE" sz="900" dirty="0" err="1">
                <a:latin typeface="Menlo"/>
              </a:rPr>
              <a:t>cut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start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deviation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most</a:t>
            </a:r>
            <a:r>
              <a:rPr lang="de-DE" sz="900" dirty="0">
                <a:latin typeface="Menlo"/>
              </a:rPr>
              <a:t>. 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4204E20-A9DB-9B67-6370-A7FABDA7ACA0}"/>
              </a:ext>
            </a:extLst>
          </p:cNvPr>
          <p:cNvSpPr txBox="1"/>
          <p:nvPr/>
        </p:nvSpPr>
        <p:spPr>
          <a:xfrm>
            <a:off x="5812301" y="4679936"/>
            <a:ext cx="31886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diagnostic, </a:t>
            </a:r>
            <a:r>
              <a:rPr lang="en-US" sz="1000" dirty="0" err="1">
                <a:latin typeface="Menlo"/>
              </a:rPr>
              <a:t>anomaly_explanation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laufend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Clean up text 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For </a:t>
            </a:r>
            <a:r>
              <a:rPr lang="en-US" sz="1000" dirty="0" err="1">
                <a:latin typeface="Menlo"/>
              </a:rPr>
              <a:t>unfinshed</a:t>
            </a:r>
            <a:r>
              <a:rPr lang="en-US" sz="1000" dirty="0">
                <a:latin typeface="Menlo"/>
              </a:rPr>
              <a:t>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operations: I want to decrease start deviation. What do I need to work on?.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42D49EC-D511-BC9C-AAF9-6D63773AE3E7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14: </a:t>
            </a:r>
            <a:r>
              <a:rPr lang="en-US" sz="1400" dirty="0">
                <a:latin typeface="Menlo"/>
              </a:rPr>
              <a:t>For </a:t>
            </a:r>
            <a:r>
              <a:rPr lang="en-US" sz="1400" dirty="0" err="1">
                <a:latin typeface="Menlo"/>
              </a:rPr>
              <a:t>unfinshed</a:t>
            </a:r>
            <a:r>
              <a:rPr lang="en-US" sz="1400" dirty="0">
                <a:latin typeface="Menlo"/>
              </a:rPr>
              <a:t> operations: I want to decrease start deviation. What do I need to work on?</a:t>
            </a:r>
            <a:r>
              <a:rPr lang="de-DE" sz="1400" b="1" noProof="0" dirty="0">
                <a:latin typeface="Menlo"/>
              </a:rPr>
              <a:t> 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Diagramm, Screenshot, parallel enthält.&#10;&#10;KI-generierte Inhalte können fehlerhaft sein.">
            <a:extLst>
              <a:ext uri="{FF2B5EF4-FFF2-40B4-BE49-F238E27FC236}">
                <a16:creationId xmlns:a16="http://schemas.microsoft.com/office/drawing/2014/main" id="{64906B38-4FB8-B9C1-E914-0C2D89581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29126"/>
            <a:ext cx="2739725" cy="208507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2C51139-CBCB-28F1-6C2B-5964DA9BD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56869"/>
            <a:ext cx="5388077" cy="1900762"/>
          </a:xfrm>
          <a:prstGeom prst="rect">
            <a:avLst/>
          </a:prstGeom>
        </p:spPr>
      </p:pic>
      <p:pic>
        <p:nvPicPr>
          <p:cNvPr id="13" name="Grafik 12" descr="Ein Bild, das Text, Diagramm, Screenshot, parallel enthält.&#10;&#10;KI-generierte Inhalte können fehlerhaft sein.">
            <a:extLst>
              <a:ext uri="{FF2B5EF4-FFF2-40B4-BE49-F238E27FC236}">
                <a16:creationId xmlns:a16="http://schemas.microsoft.com/office/drawing/2014/main" id="{B63DB8C1-D362-3252-4E21-02538456D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437867"/>
            <a:ext cx="2739725" cy="2068300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300400B4-979C-8412-8889-1D59ECD77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360112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A54BFF85-93DB-DA0E-AD31-411BCB71A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AFAD93A8-EA63-2C35-CAD7-C2F34AB04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102512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876700A9-6FF1-364C-0EA7-F0743110F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847879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486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0C8F-9086-C26A-63E8-AB35B294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93C5058B-234F-EBC7-A59A-DA22944A398B}"/>
              </a:ext>
            </a:extLst>
          </p:cNvPr>
          <p:cNvSpPr txBox="1"/>
          <p:nvPr/>
        </p:nvSpPr>
        <p:spPr>
          <a:xfrm>
            <a:off x="5812301" y="403122"/>
            <a:ext cx="318867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900" b="1" dirty="0">
                <a:latin typeface="Menlo"/>
              </a:rPr>
              <a:t>Family/type: </a:t>
            </a:r>
            <a:r>
              <a:rPr lang="en-US" sz="900" dirty="0">
                <a:latin typeface="Menlo"/>
              </a:rPr>
              <a:t>descriptive, </a:t>
            </a:r>
            <a:r>
              <a:rPr lang="en-US" sz="900" dirty="0" err="1">
                <a:latin typeface="Menlo"/>
              </a:rPr>
              <a:t>group_compare</a:t>
            </a:r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Filters: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in ['Fräsen Gruppe 5-Achs‘, </a:t>
            </a:r>
            <a:br>
              <a:rPr lang="de-DE" sz="900" dirty="0">
                <a:latin typeface="Menlo"/>
              </a:rPr>
            </a:br>
            <a:r>
              <a:rPr lang="de-DE" sz="900" dirty="0">
                <a:latin typeface="Menlo"/>
              </a:rPr>
              <a:t>'Fräsen DM100']</a:t>
            </a:r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Columns: </a:t>
            </a:r>
            <a:r>
              <a:rPr lang="en-US" sz="900" dirty="0" err="1">
                <a:latin typeface="Menlo"/>
              </a:rPr>
              <a:t>resource_group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ta_abgang</a:t>
            </a:r>
            <a:endParaRPr lang="en-US" sz="900" b="1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Prepare: </a:t>
            </a:r>
            <a:r>
              <a:rPr lang="en-US" sz="900" dirty="0">
                <a:latin typeface="Menlo"/>
              </a:rPr>
              <a:t>Clean up text (trim spaces);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Remove rows with missing required values (</a:t>
            </a:r>
            <a:r>
              <a:rPr lang="en-US" sz="900" dirty="0" err="1">
                <a:latin typeface="Menlo"/>
              </a:rPr>
              <a:t>ta_abgang</a:t>
            </a:r>
            <a:r>
              <a:rPr lang="en-US" sz="900" dirty="0">
                <a:latin typeface="Menlo"/>
              </a:rPr>
              <a:t>)</a:t>
            </a:r>
          </a:p>
          <a:p>
            <a:pPr latinLnBrk="1"/>
            <a:r>
              <a:rPr lang="en-US" sz="900" b="1" dirty="0">
                <a:latin typeface="Menlo"/>
              </a:rPr>
              <a:t>Aggregate: </a:t>
            </a:r>
            <a:r>
              <a:rPr lang="en-US" sz="900" dirty="0" err="1">
                <a:latin typeface="Menlo"/>
              </a:rPr>
              <a:t>groupby</a:t>
            </a:r>
            <a:r>
              <a:rPr lang="en-US" sz="900" dirty="0">
                <a:latin typeface="Menlo"/>
              </a:rPr>
              <a:t>=[</a:t>
            </a:r>
            <a:r>
              <a:rPr lang="en-US" sz="900" dirty="0" err="1">
                <a:latin typeface="Menlo"/>
              </a:rPr>
              <a:t>resource_group</a:t>
            </a:r>
            <a:r>
              <a:rPr lang="en-US" sz="900" dirty="0">
                <a:latin typeface="Menlo"/>
              </a:rPr>
              <a:t>];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metrics=[</a:t>
            </a:r>
            <a:r>
              <a:rPr lang="en-US" sz="900" dirty="0" err="1">
                <a:latin typeface="Menlo"/>
              </a:rPr>
              <a:t>mean_ta_abgang</a:t>
            </a: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mean:ta_abgang</a:t>
            </a:r>
            <a:r>
              <a:rPr lang="en-US" sz="900" dirty="0">
                <a:latin typeface="Menlo"/>
              </a:rPr>
              <a:t>), </a:t>
            </a:r>
            <a:r>
              <a:rPr lang="en-US" sz="900" dirty="0" err="1">
                <a:latin typeface="Menlo"/>
              </a:rPr>
              <a:t>n_records</a:t>
            </a:r>
            <a:r>
              <a:rPr lang="en-US" sz="900" dirty="0">
                <a:latin typeface="Menlo"/>
              </a:rPr>
              <a:t>=count]</a:t>
            </a:r>
          </a:p>
          <a:p>
            <a:pPr latinLnBrk="1"/>
            <a:r>
              <a:rPr lang="en-US" sz="900" b="1" dirty="0">
                <a:latin typeface="Menlo"/>
              </a:rPr>
              <a:t>Verify status: </a:t>
            </a:r>
            <a:r>
              <a:rPr lang="en-US" sz="900" dirty="0">
                <a:latin typeface="Menlo"/>
              </a:rPr>
              <a:t>ok</a:t>
            </a:r>
          </a:p>
          <a:p>
            <a:pPr latinLnBrk="1"/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Summary: </a:t>
            </a:r>
            <a:r>
              <a:rPr lang="en-US" sz="900" dirty="0">
                <a:latin typeface="Menlo"/>
              </a:rPr>
              <a:t>Routing work to </a:t>
            </a:r>
            <a:r>
              <a:rPr lang="en-US" sz="900" dirty="0" err="1">
                <a:latin typeface="Menlo"/>
              </a:rPr>
              <a:t>Fräsen</a:t>
            </a:r>
            <a:r>
              <a:rPr lang="en-US" sz="900" dirty="0">
                <a:latin typeface="Menlo"/>
              </a:rPr>
              <a:t> Gruppe 5-Achs leads to about 14 days early finish on average, compared to 8 days early on </a:t>
            </a:r>
            <a:br>
              <a:rPr lang="en-US" sz="900" dirty="0">
                <a:latin typeface="Menlo"/>
              </a:rPr>
            </a:br>
            <a:r>
              <a:rPr lang="en-US" sz="900" dirty="0" err="1">
                <a:latin typeface="Menlo"/>
              </a:rPr>
              <a:t>Fräsen</a:t>
            </a:r>
            <a:r>
              <a:rPr lang="en-US" sz="900" dirty="0">
                <a:latin typeface="Menlo"/>
              </a:rPr>
              <a:t> DM100. This switch speeds completion by around 6 days. Evaluate capacity impact of shift to Gruppe 5-Achs.</a:t>
            </a:r>
          </a:p>
          <a:p>
            <a:pPr latinLnBrk="1"/>
            <a:endParaRPr lang="en-US" sz="900" dirty="0">
              <a:latin typeface="Menlo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EC8A050-A6BF-1A9A-DF83-929E69C379EF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A7AF778-C854-6E08-6620-50B69825AFDC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0A31C85-5CF9-763C-D4DD-30D477BD2749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D0AD8462-0457-488D-3942-67A68522466E}"/>
              </a:ext>
            </a:extLst>
          </p:cNvPr>
          <p:cNvSpPr txBox="1"/>
          <p:nvPr/>
        </p:nvSpPr>
        <p:spPr>
          <a:xfrm>
            <a:off x="5812301" y="2555512"/>
            <a:ext cx="3188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comparison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ist_ende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∈ {Fräsen DM100, Fräsen Gruppe 5-Achs}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resource_group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resource_group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), median(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)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resource_group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</a:t>
            </a:r>
            <a:r>
              <a:rPr lang="de-DE" sz="900" dirty="0" err="1">
                <a:latin typeface="Menlo"/>
              </a:rPr>
              <a:t>historic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averages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only</a:t>
            </a:r>
            <a:r>
              <a:rPr lang="de-DE" sz="900" dirty="0">
                <a:latin typeface="Menlo"/>
              </a:rPr>
              <a:t>)</a:t>
            </a:r>
            <a:br>
              <a:rPr lang="de-DE" sz="900" dirty="0">
                <a:latin typeface="Menlo"/>
              </a:rPr>
            </a:br>
            <a:endParaRPr lang="de-DE" sz="900" dirty="0">
              <a:latin typeface="Menlo"/>
            </a:endParaRPr>
          </a:p>
          <a:p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Routing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Fräsen DM100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yields</a:t>
            </a:r>
            <a:r>
              <a:rPr lang="de-DE" sz="900" dirty="0">
                <a:latin typeface="Menlo"/>
              </a:rPr>
              <a:t> a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 end </a:t>
            </a:r>
            <a:r>
              <a:rPr lang="de-DE" sz="900" dirty="0" err="1">
                <a:latin typeface="Menlo"/>
              </a:rPr>
              <a:t>deviation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of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about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−14 </a:t>
            </a:r>
            <a:r>
              <a:rPr lang="de-DE" sz="900" b="1" dirty="0" err="1">
                <a:latin typeface="Menlo"/>
              </a:rPr>
              <a:t>days</a:t>
            </a:r>
            <a:r>
              <a:rPr lang="de-DE" sz="900" dirty="0">
                <a:latin typeface="Menlo"/>
              </a:rPr>
              <a:t> (</a:t>
            </a:r>
            <a:r>
              <a:rPr lang="de-DE" sz="900" dirty="0" err="1">
                <a:latin typeface="Menlo"/>
              </a:rPr>
              <a:t>earlier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finishes</a:t>
            </a:r>
            <a:r>
              <a:rPr lang="de-DE" sz="900" dirty="0">
                <a:latin typeface="Menlo"/>
              </a:rPr>
              <a:t>), </a:t>
            </a:r>
            <a:r>
              <a:rPr lang="de-DE" sz="900" dirty="0" err="1">
                <a:latin typeface="Menlo"/>
              </a:rPr>
              <a:t>while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Fräsen Gruppe 5-Achs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averages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around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−8 </a:t>
            </a:r>
            <a:r>
              <a:rPr lang="de-DE" sz="900" b="1" dirty="0" err="1">
                <a:latin typeface="Menlo"/>
              </a:rPr>
              <a:t>days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switching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5-Axis </a:t>
            </a:r>
            <a:r>
              <a:rPr lang="de-DE" sz="900" dirty="0" err="1">
                <a:latin typeface="Menlo"/>
              </a:rPr>
              <a:t>would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therefore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move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expected</a:t>
            </a:r>
            <a:r>
              <a:rPr lang="de-DE" sz="900" dirty="0">
                <a:latin typeface="Menlo"/>
              </a:rPr>
              <a:t> end </a:t>
            </a:r>
            <a:r>
              <a:rPr lang="de-DE" sz="900" dirty="0" err="1">
                <a:latin typeface="Menlo"/>
              </a:rPr>
              <a:t>dates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about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6 </a:t>
            </a:r>
            <a:r>
              <a:rPr lang="de-DE" sz="900" b="1" dirty="0" err="1">
                <a:latin typeface="Menlo"/>
              </a:rPr>
              <a:t>days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closer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to</a:t>
            </a:r>
            <a:r>
              <a:rPr lang="de-DE" sz="900" b="1" dirty="0">
                <a:latin typeface="Menlo"/>
              </a:rPr>
              <a:t> plan</a:t>
            </a:r>
            <a:r>
              <a:rPr lang="de-DE" sz="900" dirty="0">
                <a:latin typeface="Menlo"/>
              </a:rPr>
              <a:t> (</a:t>
            </a:r>
            <a:r>
              <a:rPr lang="de-DE" sz="900" dirty="0" err="1">
                <a:latin typeface="Menlo"/>
              </a:rPr>
              <a:t>less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early</a:t>
            </a:r>
            <a:r>
              <a:rPr lang="de-DE" sz="900" dirty="0">
                <a:latin typeface="Menlo"/>
              </a:rPr>
              <a:t>).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073715F-EC6D-FDE5-1FD1-E436B490D4C6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</a:t>
            </a:r>
            <a:r>
              <a:rPr lang="en-US" sz="1000" dirty="0" err="1">
                <a:latin typeface="Menlo"/>
              </a:rPr>
              <a:t>group_compare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 in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['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Gruppe 5-Achs',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DM100’];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Clean up text 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What happens to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expected end-date deviation if we route work to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Gruppe 5-Achs' instead of ‘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DM100’?.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DCA1E91-D905-601A-A6F4-C11D8AF364A1}"/>
              </a:ext>
            </a:extLst>
          </p:cNvPr>
          <p:cNvSpPr txBox="1"/>
          <p:nvPr/>
        </p:nvSpPr>
        <p:spPr>
          <a:xfrm>
            <a:off x="0" y="56293"/>
            <a:ext cx="8707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200" b="1" noProof="0" dirty="0">
                <a:latin typeface="Menlo"/>
              </a:rPr>
              <a:t>Prompt </a:t>
            </a:r>
            <a:r>
              <a:rPr lang="de-DE" sz="1200" b="1" dirty="0">
                <a:latin typeface="Menlo"/>
              </a:rPr>
              <a:t>15</a:t>
            </a:r>
            <a:r>
              <a:rPr lang="de-DE" sz="1200" b="1" noProof="0" dirty="0">
                <a:latin typeface="Menlo"/>
              </a:rPr>
              <a:t>: </a:t>
            </a:r>
            <a:r>
              <a:rPr lang="en-US" sz="1200" dirty="0">
                <a:latin typeface="Menlo"/>
              </a:rPr>
              <a:t>What happens to expected end-date deviation if we route work to '</a:t>
            </a:r>
            <a:r>
              <a:rPr lang="en-US" sz="1200" dirty="0" err="1">
                <a:latin typeface="Menlo"/>
              </a:rPr>
              <a:t>Fräsen</a:t>
            </a:r>
            <a:r>
              <a:rPr lang="en-US" sz="1200" dirty="0">
                <a:latin typeface="Menlo"/>
              </a:rPr>
              <a:t> Gruppe 5-Achs' instead of ‘</a:t>
            </a:r>
            <a:r>
              <a:rPr lang="en-US" sz="1200" dirty="0" err="1">
                <a:latin typeface="Menlo"/>
              </a:rPr>
              <a:t>Fräsen</a:t>
            </a:r>
            <a:r>
              <a:rPr lang="en-US" sz="1200" dirty="0">
                <a:latin typeface="Menlo"/>
              </a:rPr>
              <a:t> DM100’?</a:t>
            </a:r>
            <a:r>
              <a:rPr lang="de-DE" sz="1200" b="1" noProof="0" dirty="0">
                <a:latin typeface="Menlo"/>
              </a:rPr>
              <a:t> </a:t>
            </a:r>
            <a:endParaRPr lang="en-US" sz="1200" noProof="0" dirty="0">
              <a:latin typeface="Menlo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2C8E1AF-367B-053D-C7F8-ABBCCD89F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26123"/>
            <a:ext cx="3875750" cy="1920240"/>
          </a:xfrm>
          <a:prstGeom prst="rect">
            <a:avLst/>
          </a:prstGeom>
        </p:spPr>
      </p:pic>
      <p:pic>
        <p:nvPicPr>
          <p:cNvPr id="11" name="Grafik 10" descr="Ein Bild, das Text, Screenshot, Reihe, Zahl enthält.&#10;&#10;KI-generierte Inhalte können fehlerhaft sein.">
            <a:extLst>
              <a:ext uri="{FF2B5EF4-FFF2-40B4-BE49-F238E27FC236}">
                <a16:creationId xmlns:a16="http://schemas.microsoft.com/office/drawing/2014/main" id="{E7DF3E0A-8D5C-3D80-106B-544EBF779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783114"/>
            <a:ext cx="3460955" cy="1994673"/>
          </a:xfrm>
          <a:prstGeom prst="rect">
            <a:avLst/>
          </a:prstGeom>
        </p:spPr>
      </p:pic>
      <p:pic>
        <p:nvPicPr>
          <p:cNvPr id="14" name="Grafik 13" descr="Ein Bild, das Screenshot, Text, Rechteck, Reihe enthält.&#10;&#10;KI-generierte Inhalte können fehlerhaft sein.">
            <a:extLst>
              <a:ext uri="{FF2B5EF4-FFF2-40B4-BE49-F238E27FC236}">
                <a16:creationId xmlns:a16="http://schemas.microsoft.com/office/drawing/2014/main" id="{171CEF68-8E3C-A198-95C8-6210235E3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500654"/>
            <a:ext cx="3460956" cy="1928761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36606CC3-DECC-978C-62F2-EFCBC7FBD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705814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4F172F7-97D5-CA04-8B49-D9E5DD74B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9A959060-F8A2-7C0F-D6B6-73A58FB3C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712966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695B6B6B-0CDC-1A44-8F3A-7CEEBC00F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721112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269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C2E8FDACBFF884FB978E079E898B67C" ma:contentTypeVersion="17" ma:contentTypeDescription="Ein neues Dokument erstellen." ma:contentTypeScope="" ma:versionID="b55fa78c03d2434c24f87509f904c4da">
  <xsd:schema xmlns:xsd="http://www.w3.org/2001/XMLSchema" xmlns:xs="http://www.w3.org/2001/XMLSchema" xmlns:p="http://schemas.microsoft.com/office/2006/metadata/properties" xmlns:ns2="e532890a-ed67-47dc-bb93-1915b30ed86c" xmlns:ns3="87bbe071-bd98-4adc-bbdd-e60a5eaec7ad" targetNamespace="http://schemas.microsoft.com/office/2006/metadata/properties" ma:root="true" ma:fieldsID="2e1c382ab806abe265d332ddc73de5a6" ns2:_="" ns3:_="">
    <xsd:import namespace="e532890a-ed67-47dc-bb93-1915b30ed86c"/>
    <xsd:import namespace="87bbe071-bd98-4adc-bbdd-e60a5eaec7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32890a-ed67-47dc-bb93-1915b30ed8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c994ab85-5d84-4d9a-995d-f6659e44be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bbe071-bd98-4adc-bbdd-e60a5eaec7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ea3be8e-ae50-492d-89f2-85fdd0dc0351}" ma:internalName="TaxCatchAll" ma:showField="CatchAllData" ma:web="87bbe071-bd98-4adc-bbdd-e60a5eaec7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7bbe071-bd98-4adc-bbdd-e60a5eaec7ad" xsi:nil="true"/>
    <lcf76f155ced4ddcb4097134ff3c332f xmlns="e532890a-ed67-47dc-bb93-1915b30ed86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A508174-E246-4CD4-A69C-E02BBACA4787}"/>
</file>

<file path=customXml/itemProps2.xml><?xml version="1.0" encoding="utf-8"?>
<ds:datastoreItem xmlns:ds="http://schemas.openxmlformats.org/officeDocument/2006/customXml" ds:itemID="{646A0133-64EC-4787-9FCA-75861B56D08C}"/>
</file>

<file path=customXml/itemProps3.xml><?xml version="1.0" encoding="utf-8"?>
<ds:datastoreItem xmlns:ds="http://schemas.openxmlformats.org/officeDocument/2006/customXml" ds:itemID="{27CAF796-7191-40F0-8DFC-896DA6B4CF9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8184</Words>
  <Application>Microsoft Office PowerPoint</Application>
  <PresentationFormat>Breitbild</PresentationFormat>
  <Paragraphs>1043</Paragraphs>
  <Slides>18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menlo</vt:lpstr>
      <vt:lpstr>menlo</vt:lpstr>
      <vt:lpstr>Office</vt:lpstr>
      <vt:lpstr>Evaluator Instructions (Test Set)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d.kulaszewski@stud.uni-goettingen.de</dc:creator>
  <cp:lastModifiedBy>d.kulaszewski@stud.uni-goettingen.de</cp:lastModifiedBy>
  <cp:revision>6</cp:revision>
  <dcterms:created xsi:type="dcterms:W3CDTF">2026-01-14T19:11:45Z</dcterms:created>
  <dcterms:modified xsi:type="dcterms:W3CDTF">2026-01-29T15:51:19Z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cd6ce03-cdf2-479c-b1a8-ffb8921a7117_Enabled">
    <vt:lpwstr>true</vt:lpwstr>
  </property>
  <property fmtid="{D5CDD505-2E9C-101B-9397-08002B2CF9AE}" pid="3" name="MSIP_Label_7cd6ce03-cdf2-479c-b1a8-ffb8921a7117_SetDate">
    <vt:lpwstr>2026-01-19T20:59:52Z</vt:lpwstr>
  </property>
  <property fmtid="{D5CDD505-2E9C-101B-9397-08002B2CF9AE}" pid="4" name="MSIP_Label_7cd6ce03-cdf2-479c-b1a8-ffb8921a7117_Method">
    <vt:lpwstr>Privileged</vt:lpwstr>
  </property>
  <property fmtid="{D5CDD505-2E9C-101B-9397-08002B2CF9AE}" pid="5" name="MSIP_Label_7cd6ce03-cdf2-479c-b1a8-ffb8921a7117_Name">
    <vt:lpwstr>Offen</vt:lpwstr>
  </property>
  <property fmtid="{D5CDD505-2E9C-101B-9397-08002B2CF9AE}" pid="6" name="MSIP_Label_7cd6ce03-cdf2-479c-b1a8-ffb8921a7117_SiteId">
    <vt:lpwstr>05764ee8-2451-407b-a046-1bf9f7519648</vt:lpwstr>
  </property>
  <property fmtid="{D5CDD505-2E9C-101B-9397-08002B2CF9AE}" pid="7" name="MSIP_Label_7cd6ce03-cdf2-479c-b1a8-ffb8921a7117_ActionId">
    <vt:lpwstr>3548b2ff-2c1f-48ed-ae9f-8099c477a73d</vt:lpwstr>
  </property>
  <property fmtid="{D5CDD505-2E9C-101B-9397-08002B2CF9AE}" pid="8" name="MSIP_Label_7cd6ce03-cdf2-479c-b1a8-ffb8921a7117_ContentBits">
    <vt:lpwstr>0</vt:lpwstr>
  </property>
  <property fmtid="{D5CDD505-2E9C-101B-9397-08002B2CF9AE}" pid="9" name="MSIP_Label_7cd6ce03-cdf2-479c-b1a8-ffb8921a7117_Tag">
    <vt:lpwstr>10, 0, 1, 1</vt:lpwstr>
  </property>
  <property fmtid="{D5CDD505-2E9C-101B-9397-08002B2CF9AE}" pid="10" name="MSIP_Label_defa4170-0d19-0005-0004-bc88714345d2_Enabled">
    <vt:lpwstr>true</vt:lpwstr>
  </property>
  <property fmtid="{D5CDD505-2E9C-101B-9397-08002B2CF9AE}" pid="11" name="MSIP_Label_defa4170-0d19-0005-0004-bc88714345d2_SetDate">
    <vt:lpwstr>2026-01-26T09:57:44Z</vt:lpwstr>
  </property>
  <property fmtid="{D5CDD505-2E9C-101B-9397-08002B2CF9AE}" pid="12" name="MSIP_Label_defa4170-0d19-0005-0004-bc88714345d2_Method">
    <vt:lpwstr>Standard</vt:lpwstr>
  </property>
  <property fmtid="{D5CDD505-2E9C-101B-9397-08002B2CF9AE}" pid="13" name="MSIP_Label_defa4170-0d19-0005-0004-bc88714345d2_Name">
    <vt:lpwstr>defa4170-0d19-0005-0004-bc88714345d2</vt:lpwstr>
  </property>
  <property fmtid="{D5CDD505-2E9C-101B-9397-08002B2CF9AE}" pid="14" name="MSIP_Label_defa4170-0d19-0005-0004-bc88714345d2_SiteId">
    <vt:lpwstr>b72b1c34-30b4-4cf3-818c-53a509946369</vt:lpwstr>
  </property>
  <property fmtid="{D5CDD505-2E9C-101B-9397-08002B2CF9AE}" pid="15" name="MSIP_Label_defa4170-0d19-0005-0004-bc88714345d2_ActionId">
    <vt:lpwstr>5b4c9673-ffa2-4d47-85a6-006ba69863b1</vt:lpwstr>
  </property>
  <property fmtid="{D5CDD505-2E9C-101B-9397-08002B2CF9AE}" pid="16" name="MSIP_Label_defa4170-0d19-0005-0004-bc88714345d2_ContentBits">
    <vt:lpwstr>0</vt:lpwstr>
  </property>
  <property fmtid="{D5CDD505-2E9C-101B-9397-08002B2CF9AE}" pid="17" name="MSIP_Label_defa4170-0d19-0005-0004-bc88714345d2_Tag">
    <vt:lpwstr>50, 3, 0, 1</vt:lpwstr>
  </property>
  <property fmtid="{D5CDD505-2E9C-101B-9397-08002B2CF9AE}" pid="18" name="ContentTypeId">
    <vt:lpwstr>0x0101001C2E8FDACBFF884FB978E079E898B67C</vt:lpwstr>
  </property>
</Properties>
</file>